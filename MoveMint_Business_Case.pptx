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 w="1270"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58A6FF"/>
          </a:solidFill>
          <a:ln w="127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45752" y="0"/>
            <a:ext cx="2743200" cy="54864"/>
          </a:xfrm>
          <a:prstGeom prst="rect">
            <a:avLst/>
          </a:prstGeom>
          <a:solidFill>
            <a:srgbClr val="BC8CFF"/>
          </a:solidFill>
          <a:ln w="127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B949E"/>
                </a:solidFill>
                <a:latin typeface="Calibri"/>
              </a:rPr>
              <a:t>01 — THE OPPORTUNITY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10972"/>
          </a:xfrm>
          <a:prstGeom prst="rect">
            <a:avLst/>
          </a:prstGeom>
          <a:solidFill>
            <a:srgbClr val="212932"/>
          </a:solidFill>
          <a:ln w="1270">
            <a:solidFill>
              <a:srgbClr val="212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011680"/>
            <a:ext cx="12188952" cy="10972"/>
          </a:xfrm>
          <a:prstGeom prst="rect">
            <a:avLst/>
          </a:prstGeom>
          <a:solidFill>
            <a:srgbClr val="212932"/>
          </a:solidFill>
          <a:ln w="1270">
            <a:solidFill>
              <a:srgbClr val="212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3017520"/>
            <a:ext cx="12188952" cy="10972"/>
          </a:xfrm>
          <a:prstGeom prst="rect">
            <a:avLst/>
          </a:prstGeom>
          <a:solidFill>
            <a:srgbClr val="212932"/>
          </a:solidFill>
          <a:ln w="1270">
            <a:solidFill>
              <a:srgbClr val="212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023360"/>
            <a:ext cx="12188952" cy="10972"/>
          </a:xfrm>
          <a:prstGeom prst="rect">
            <a:avLst/>
          </a:prstGeom>
          <a:solidFill>
            <a:srgbClr val="212932"/>
          </a:solidFill>
          <a:ln w="1270">
            <a:solidFill>
              <a:srgbClr val="212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9200"/>
            <a:ext cx="12188952" cy="10972"/>
          </a:xfrm>
          <a:prstGeom prst="rect">
            <a:avLst/>
          </a:prstGeom>
          <a:solidFill>
            <a:srgbClr val="212932"/>
          </a:solidFill>
          <a:ln w="1270">
            <a:solidFill>
              <a:srgbClr val="212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035040"/>
            <a:ext cx="12188952" cy="10972"/>
          </a:xfrm>
          <a:prstGeom prst="rect">
            <a:avLst/>
          </a:prstGeom>
          <a:solidFill>
            <a:srgbClr val="212932"/>
          </a:solidFill>
          <a:ln w="1270">
            <a:solidFill>
              <a:srgbClr val="212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457200"/>
            <a:ext cx="3200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0" b="1" i="0">
                <a:solidFill>
                  <a:srgbClr val="1A212B"/>
                </a:solidFill>
                <a:latin typeface="Calibri Light"/>
              </a:rPr>
              <a:t>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914400"/>
            <a:ext cx="8686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0" b="1" i="0">
                <a:solidFill>
                  <a:srgbClr val="FFFFFF"/>
                </a:solidFill>
                <a:latin typeface="Calibri Light"/>
              </a:rPr>
              <a:t>Everyone wants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874519"/>
            <a:ext cx="8686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0" b="1" i="0">
                <a:solidFill>
                  <a:srgbClr val="FFFFFF"/>
                </a:solidFill>
                <a:latin typeface="Calibri Light"/>
              </a:rPr>
              <a:t>to launch a token.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108960"/>
            <a:ext cx="4389120" cy="45720"/>
          </a:xfrm>
          <a:prstGeom prst="rect">
            <a:avLst/>
          </a:prstGeom>
          <a:solidFill>
            <a:srgbClr val="58A6FF"/>
          </a:solidFill>
          <a:ln w="127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24612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58A6FF"/>
                </a:solidFill>
                <a:latin typeface="Calibri Light"/>
              </a:rPr>
              <a:t>Almost no one can.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343400"/>
            <a:ext cx="6858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B949E"/>
                </a:solidFill>
                <a:latin typeface="Calibri"/>
              </a:rPr>
              <a:t>The technical barrier to deploying, trading, and graduating a token
to a decentralized exchange has locked billions in latent creator value.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59436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400" b="1" i="0">
                <a:solidFill>
                  <a:srgbClr val="BC8CFF"/>
                </a:solidFill>
                <a:latin typeface="Calibri Light"/>
              </a:rPr>
              <a:t>MOVEMINT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64465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alibri"/>
              </a:rPr>
              <a:t>Token launcher · Aptos blockchain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 w="1270"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58A6FF"/>
          </a:solidFill>
          <a:ln w="127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45752" y="0"/>
            <a:ext cx="2743200" cy="54864"/>
          </a:xfrm>
          <a:prstGeom prst="rect">
            <a:avLst/>
          </a:prstGeom>
          <a:solidFill>
            <a:srgbClr val="BC8CFF"/>
          </a:solidFill>
          <a:ln w="127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B949E"/>
                </a:solidFill>
                <a:latin typeface="Calibri"/>
              </a:rPr>
              <a:t>02 — THE MARKET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161B22"/>
          </a:solidFill>
          <a:ln w="127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0" y="0"/>
            <a:ext cx="5330952" cy="6858000"/>
          </a:xfrm>
          <a:prstGeom prst="rect">
            <a:avLst/>
          </a:prstGeom>
          <a:solidFill>
            <a:srgbClr val="0D1117"/>
          </a:solidFill>
          <a:ln w="1270"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029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8A6FF"/>
                </a:solidFill>
                <a:latin typeface="Calibri"/>
              </a:rPr>
              <a:t>WHY CURRENT SOLUTIONS FAIL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822960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The Broken Landscape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691640"/>
            <a:ext cx="54864" cy="502920"/>
          </a:xfrm>
          <a:prstGeom prst="rect">
            <a:avLst/>
          </a:prstGeom>
          <a:solidFill>
            <a:srgbClr val="FF6B6B"/>
          </a:solidFill>
          <a:ln w="127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9164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  <a:latin typeface="Calibri"/>
              </a:rPr>
              <a:t>Pump.fun dominance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993392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Solana-only — Aptos creators have zero equivalent product.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514600"/>
            <a:ext cx="54864" cy="502920"/>
          </a:xfrm>
          <a:prstGeom prst="rect">
            <a:avLst/>
          </a:prstGeom>
          <a:solidFill>
            <a:srgbClr val="FF6B6B"/>
          </a:solidFill>
          <a:ln w="127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51460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  <a:latin typeface="Calibri"/>
              </a:rPr>
              <a:t>High technical barrier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816352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Deploying a Move smart contract requires weeks of expertise.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337560"/>
            <a:ext cx="54864" cy="502920"/>
          </a:xfrm>
          <a:prstGeom prst="rect">
            <a:avLst/>
          </a:prstGeom>
          <a:solidFill>
            <a:srgbClr val="FF6B6B"/>
          </a:solidFill>
          <a:ln w="127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33756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  <a:latin typeface="Calibri"/>
              </a:rPr>
              <a:t>No liquidity path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639312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DIY tokens die on launch — no automated graduation to DEX.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160520"/>
            <a:ext cx="54864" cy="502920"/>
          </a:xfrm>
          <a:prstGeom prst="rect">
            <a:avLst/>
          </a:prstGeom>
          <a:solidFill>
            <a:srgbClr val="FF6B6B"/>
          </a:solidFill>
          <a:ln w="127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16052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  <a:latin typeface="Calibri"/>
              </a:rPr>
              <a:t>Opaque price discovery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462272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No on-chain bonding curve means prices are manipulable.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983480"/>
            <a:ext cx="54864" cy="502920"/>
          </a:xfrm>
          <a:prstGeom prst="rect">
            <a:avLst/>
          </a:prstGeom>
          <a:solidFill>
            <a:srgbClr val="FF6B6B"/>
          </a:solidFill>
          <a:ln w="127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98348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  <a:latin typeface="Calibri"/>
              </a:rPr>
              <a:t>Fragmented UX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285232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Creators juggle 4+ tools: wallet, indexer, DEX, explorer.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5029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FB950"/>
                </a:solidFill>
                <a:latin typeface="Calibri"/>
              </a:rPr>
              <a:t>THE MACRO TAILWIND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82296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Why Now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78040" y="1691640"/>
            <a:ext cx="4480560" cy="960120"/>
          </a:xfrm>
          <a:prstGeom prst="rect">
            <a:avLst/>
          </a:prstGeom>
          <a:solidFill>
            <a:srgbClr val="1C242E"/>
          </a:solidFill>
          <a:ln w="1270">
            <a:solidFill>
              <a:srgbClr val="1C2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42632" y="1801368"/>
            <a:ext cx="4206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 i="0">
                <a:solidFill>
                  <a:srgbClr val="3FB950"/>
                </a:solidFill>
                <a:latin typeface="Calibri Light"/>
              </a:rPr>
              <a:t>$847M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42632" y="2532888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Aptos TVL — fastest-growing L1 in 2024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78040" y="2807208"/>
            <a:ext cx="4480560" cy="960120"/>
          </a:xfrm>
          <a:prstGeom prst="rect">
            <a:avLst/>
          </a:prstGeom>
          <a:solidFill>
            <a:srgbClr val="1C242E"/>
          </a:solidFill>
          <a:ln w="1270">
            <a:solidFill>
              <a:srgbClr val="1C2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42632" y="2916936"/>
            <a:ext cx="4206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 i="0">
                <a:solidFill>
                  <a:srgbClr val="3FB950"/>
                </a:solidFill>
                <a:latin typeface="Calibri Light"/>
              </a:rPr>
              <a:t>4.2M+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42632" y="3648456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monthly active wallets on Aptos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78040" y="3922776"/>
            <a:ext cx="4480560" cy="960120"/>
          </a:xfrm>
          <a:prstGeom prst="rect">
            <a:avLst/>
          </a:prstGeom>
          <a:solidFill>
            <a:srgbClr val="1C242E"/>
          </a:solidFill>
          <a:ln w="1270">
            <a:solidFill>
              <a:srgbClr val="1C2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42632" y="4032504"/>
            <a:ext cx="4206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 i="0">
                <a:solidFill>
                  <a:srgbClr val="3FB950"/>
                </a:solidFill>
                <a:latin typeface="Calibri Light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42632" y="4764024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dedicated token launchers on Aptos today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78040" y="5038344"/>
            <a:ext cx="4480560" cy="960120"/>
          </a:xfrm>
          <a:prstGeom prst="rect">
            <a:avLst/>
          </a:prstGeom>
          <a:solidFill>
            <a:srgbClr val="1C242E"/>
          </a:solidFill>
          <a:ln w="1270">
            <a:solidFill>
              <a:srgbClr val="1C2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42632" y="5148072"/>
            <a:ext cx="4206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 i="0">
                <a:solidFill>
                  <a:srgbClr val="3FB950"/>
                </a:solidFill>
                <a:latin typeface="Calibri Light"/>
              </a:rPr>
              <a:t>$130B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42632" y="5879592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memecoin market cap at peak — demand is proven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30568" y="457200"/>
            <a:ext cx="36576" cy="5943600"/>
          </a:xfrm>
          <a:prstGeom prst="rect">
            <a:avLst/>
          </a:prstGeom>
          <a:solidFill>
            <a:srgbClr val="58A6FF"/>
          </a:solidFill>
          <a:ln w="127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 w="1270"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58A6FF"/>
          </a:solidFill>
          <a:ln w="127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45752" y="0"/>
            <a:ext cx="2743200" cy="54864"/>
          </a:xfrm>
          <a:prstGeom prst="rect">
            <a:avLst/>
          </a:prstGeom>
          <a:solidFill>
            <a:srgbClr val="BC8CFF"/>
          </a:solidFill>
          <a:ln w="127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B949E"/>
                </a:solidFill>
                <a:latin typeface="Calibri"/>
              </a:rPr>
              <a:t>03 — INVESTMENT THESIS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02920"/>
            <a:ext cx="12188952" cy="502920"/>
          </a:xfrm>
          <a:prstGeom prst="rect">
            <a:avLst/>
          </a:prstGeom>
          <a:solidFill>
            <a:srgbClr val="161B22"/>
          </a:solidFill>
          <a:ln w="127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8A6FF"/>
                </a:solidFill>
                <a:latin typeface="Calibri"/>
              </a:rPr>
              <a:t>THE CORE 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 Light"/>
              </a:rPr>
              <a:t>Aptos is the next home for the token creator economy.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574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58A6FF"/>
                </a:solidFill>
                <a:latin typeface="Calibri Light"/>
              </a:rPr>
              <a:t>MoveMint is the one product that makes that possible — today.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017520"/>
            <a:ext cx="3657600" cy="3291840"/>
          </a:xfrm>
          <a:prstGeom prst="rect">
            <a:avLst/>
          </a:prstGeom>
          <a:solidFill>
            <a:srgbClr val="161B22"/>
          </a:solidFill>
          <a:ln w="127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3017520"/>
            <a:ext cx="3657600" cy="73152"/>
          </a:xfrm>
          <a:prstGeom prst="rect">
            <a:avLst/>
          </a:prstGeom>
          <a:solidFill>
            <a:srgbClr val="58A6FF"/>
          </a:solidFill>
          <a:ln w="127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2004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8A6FF"/>
                </a:solidFill>
                <a:latin typeface="Calibri"/>
              </a:rPr>
              <a:t>SUPPLY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52044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 Light"/>
              </a:rPr>
              <a:t>Zero competitors on Aptos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160520"/>
            <a:ext cx="3246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  <a:latin typeface="Calibri"/>
              </a:rPr>
              <a:t>No pump.fun equivalent exists on Aptos. MoveMint captures a completely open market with no incumbent to displace.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3017520"/>
            <a:ext cx="3657600" cy="3291840"/>
          </a:xfrm>
          <a:prstGeom prst="rect">
            <a:avLst/>
          </a:prstGeom>
          <a:solidFill>
            <a:srgbClr val="161B22"/>
          </a:solidFill>
          <a:ln w="127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3017520"/>
            <a:ext cx="3657600" cy="73152"/>
          </a:xfrm>
          <a:prstGeom prst="rect">
            <a:avLst/>
          </a:prstGeom>
          <a:solidFill>
            <a:srgbClr val="BC8CFF"/>
          </a:solidFill>
          <a:ln w="127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32004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BC8CFF"/>
                </a:solidFill>
                <a:latin typeface="Calibri"/>
              </a:rPr>
              <a:t>DEMAND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52044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 Light"/>
              </a:rPr>
              <a:t>Creators want permissionless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160520"/>
            <a:ext cx="3246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  <a:latin typeface="Calibri"/>
              </a:rPr>
              <a:t>Memecoins + micro-cap tokens generated $130B in peak market cap. Demand is structurally proven — just not on Aptos.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03920" y="3017520"/>
            <a:ext cx="3657600" cy="3291840"/>
          </a:xfrm>
          <a:prstGeom prst="rect">
            <a:avLst/>
          </a:prstGeom>
          <a:solidFill>
            <a:srgbClr val="161B22"/>
          </a:solidFill>
          <a:ln w="127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03920" y="3017520"/>
            <a:ext cx="3657600" cy="73152"/>
          </a:xfrm>
          <a:prstGeom prst="rect">
            <a:avLst/>
          </a:prstGeom>
          <a:solidFill>
            <a:srgbClr val="3FB950"/>
          </a:solidFill>
          <a:ln w="127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20" y="32004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FB950"/>
                </a:solidFill>
                <a:latin typeface="Calibri"/>
              </a:rPr>
              <a:t>INFRASTRUCTURE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352044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 Light"/>
              </a:rPr>
              <a:t>Aptos is production-ready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4160520"/>
            <a:ext cx="3246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  <a:latin typeface="Calibri"/>
              </a:rPr>
              <a:t>Sub-second finality, $847M TVL, Move language safety. The L1 is ready. The app layer is missing.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565392"/>
            <a:ext cx="11155680" cy="36576"/>
          </a:xfrm>
          <a:prstGeom prst="rect">
            <a:avLst/>
          </a:prstGeom>
          <a:solidFill>
            <a:srgbClr val="212932"/>
          </a:solidFill>
          <a:ln w="1270">
            <a:solidFill>
              <a:srgbClr val="212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A defensible first-mover on Aptos has near-zero time to claim.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 w="1270"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58A6FF"/>
          </a:solidFill>
          <a:ln w="127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45752" y="0"/>
            <a:ext cx="2743200" cy="54864"/>
          </a:xfrm>
          <a:prstGeom prst="rect">
            <a:avLst/>
          </a:prstGeom>
          <a:solidFill>
            <a:srgbClr val="BC8CFF"/>
          </a:solidFill>
          <a:ln w="127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B949E"/>
                </a:solidFill>
                <a:latin typeface="Calibri"/>
              </a:rPr>
              <a:t>04 — THE INNOVATION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61B22"/>
          </a:solidFill>
          <a:ln w="127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91440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 Light"/>
              </a:rPr>
              <a:t>MOVEMINT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83080"/>
            <a:ext cx="1906524" cy="246888"/>
          </a:xfrm>
          <a:prstGeom prst="rect">
            <a:avLst/>
          </a:prstGeom>
          <a:solidFill>
            <a:srgbClr val="3FB950"/>
          </a:solidFill>
          <a:ln w="127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10512"/>
            <a:ext cx="17693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117"/>
                </a:solidFill>
                <a:latin typeface="Calibri"/>
              </a:rPr>
              <a:t>LIVE ON APTOS TESTNET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48840"/>
            <a:ext cx="39776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6EDF3"/>
                </a:solidFill>
                <a:latin typeface="Calibri"/>
              </a:rPr>
              <a:t>A permissionless platform to create,
trade, and graduate tokens on Aptos —
in under 60 seconds.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74903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58A6FF"/>
                </a:solidFill>
                <a:latin typeface="Calibri Light"/>
              </a:rPr>
              <a:t>0.2 APT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16051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launch fee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52627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58A6FF"/>
                </a:solidFill>
                <a:latin typeface="Calibri Light"/>
              </a:rPr>
              <a:t>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93775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trade fee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530351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58A6FF"/>
                </a:solidFill>
                <a:latin typeface="Calibri Light"/>
              </a:rPr>
              <a:t>1,283 APT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571499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graduation target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83480" y="548640"/>
            <a:ext cx="3474720" cy="1965960"/>
          </a:xfrm>
          <a:prstGeom prst="rect">
            <a:avLst/>
          </a:prstGeom>
          <a:solidFill>
            <a:srgbClr val="1C242E"/>
          </a:solidFill>
          <a:ln w="1270">
            <a:solidFill>
              <a:srgbClr val="1C2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83480" y="548640"/>
            <a:ext cx="64008" cy="1965960"/>
          </a:xfrm>
          <a:prstGeom prst="rect">
            <a:avLst/>
          </a:prstGeom>
          <a:solidFill>
            <a:srgbClr val="58A6FF"/>
          </a:solidFill>
          <a:ln w="127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84648" y="731520"/>
            <a:ext cx="3182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EDF3"/>
                </a:solidFill>
                <a:latin typeface="Calibri Light"/>
              </a:rPr>
              <a:t>Token Factory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4648" y="1188720"/>
            <a:ext cx="31821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  <a:latin typeface="Calibri"/>
              </a:rPr>
              <a:t>Deploy any fungible token in one transaction via Move smart contract.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41080" y="548640"/>
            <a:ext cx="3474720" cy="1965960"/>
          </a:xfrm>
          <a:prstGeom prst="rect">
            <a:avLst/>
          </a:prstGeom>
          <a:solidFill>
            <a:srgbClr val="1C242E"/>
          </a:solidFill>
          <a:ln w="1270">
            <a:solidFill>
              <a:srgbClr val="1C2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41080" y="548640"/>
            <a:ext cx="64008" cy="1965960"/>
          </a:xfrm>
          <a:prstGeom prst="rect">
            <a:avLst/>
          </a:prstGeom>
          <a:solidFill>
            <a:srgbClr val="BC8CFF"/>
          </a:solidFill>
          <a:ln w="127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42248" y="731520"/>
            <a:ext cx="3182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EDF3"/>
                </a:solidFill>
                <a:latin typeface="Calibri Light"/>
              </a:rPr>
              <a:t>Bonding Curve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42248" y="1188720"/>
            <a:ext cx="31821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  <a:latin typeface="Calibri"/>
              </a:rPr>
              <a:t>Automated price discovery: buy pressure drives price up, sell returns APT.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633471"/>
            <a:ext cx="3474720" cy="1965960"/>
          </a:xfrm>
          <a:prstGeom prst="rect">
            <a:avLst/>
          </a:prstGeom>
          <a:solidFill>
            <a:srgbClr val="1C242E"/>
          </a:solidFill>
          <a:ln w="1270">
            <a:solidFill>
              <a:srgbClr val="1C2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83480" y="2633471"/>
            <a:ext cx="64008" cy="1965960"/>
          </a:xfrm>
          <a:prstGeom prst="rect">
            <a:avLst/>
          </a:prstGeom>
          <a:solidFill>
            <a:srgbClr val="3FB950"/>
          </a:solidFill>
          <a:ln w="127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84648" y="2816351"/>
            <a:ext cx="3182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EDF3"/>
                </a:solidFill>
                <a:latin typeface="Calibri Light"/>
              </a:rPr>
              <a:t>DEX Graduation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84648" y="3273551"/>
            <a:ext cx="31821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  <a:latin typeface="Calibri"/>
              </a:rPr>
              <a:t>Tokens hitting 1,283 APT auto-migrate to Hyperion DEX with locked LP.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41080" y="2633471"/>
            <a:ext cx="3474720" cy="1965960"/>
          </a:xfrm>
          <a:prstGeom prst="rect">
            <a:avLst/>
          </a:prstGeom>
          <a:solidFill>
            <a:srgbClr val="1C242E"/>
          </a:solidFill>
          <a:ln w="1270">
            <a:solidFill>
              <a:srgbClr val="1C2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641080" y="2633471"/>
            <a:ext cx="64008" cy="1965960"/>
          </a:xfrm>
          <a:prstGeom prst="rect">
            <a:avLst/>
          </a:prstGeom>
          <a:solidFill>
            <a:srgbClr val="F78516"/>
          </a:solidFill>
          <a:ln w="1270">
            <a:solidFill>
              <a:srgbClr val="F785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42248" y="2816351"/>
            <a:ext cx="3182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EDF3"/>
                </a:solidFill>
                <a:latin typeface="Calibri Light"/>
              </a:rPr>
              <a:t>Real-time Feed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42248" y="3273551"/>
            <a:ext cx="31821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  <a:latin typeface="Calibri"/>
              </a:rPr>
              <a:t>Live trade history, price ticks, and leaderboard via Geomi GraphQL index.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718302"/>
            <a:ext cx="3474720" cy="1965960"/>
          </a:xfrm>
          <a:prstGeom prst="rect">
            <a:avLst/>
          </a:prstGeom>
          <a:solidFill>
            <a:srgbClr val="1C242E"/>
          </a:solidFill>
          <a:ln w="1270">
            <a:solidFill>
              <a:srgbClr val="1C2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983480" y="4718302"/>
            <a:ext cx="64008" cy="1965960"/>
          </a:xfrm>
          <a:prstGeom prst="rect">
            <a:avLst/>
          </a:prstGeom>
          <a:solidFill>
            <a:srgbClr val="58A6FF"/>
          </a:solidFill>
          <a:ln w="127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84648" y="4901182"/>
            <a:ext cx="3182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EDF3"/>
                </a:solidFill>
                <a:latin typeface="Calibri Light"/>
              </a:rPr>
              <a:t>Multi-wallet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84648" y="5358382"/>
            <a:ext cx="31821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  <a:latin typeface="Calibri"/>
              </a:rPr>
              <a:t>Petra, Fewcha, Martian, Rise, MiZu — plus Google OAuth.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41080" y="4718302"/>
            <a:ext cx="3474720" cy="1965960"/>
          </a:xfrm>
          <a:prstGeom prst="rect">
            <a:avLst/>
          </a:prstGeom>
          <a:solidFill>
            <a:srgbClr val="1C242E"/>
          </a:solidFill>
          <a:ln w="1270">
            <a:solidFill>
              <a:srgbClr val="1C2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641080" y="4718302"/>
            <a:ext cx="64008" cy="1965960"/>
          </a:xfrm>
          <a:prstGeom prst="rect">
            <a:avLst/>
          </a:prstGeom>
          <a:solidFill>
            <a:srgbClr val="BC8CFF"/>
          </a:solidFill>
          <a:ln w="127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42248" y="4901182"/>
            <a:ext cx="3182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EDF3"/>
                </a:solidFill>
                <a:latin typeface="Calibri Light"/>
              </a:rPr>
              <a:t>Watchlist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42248" y="5358382"/>
            <a:ext cx="31821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  <a:latin typeface="Calibri"/>
              </a:rPr>
              <a:t>Persistent, per-user watchlist stored in localStorage for quick access.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54880" y="0"/>
            <a:ext cx="36576" cy="6858000"/>
          </a:xfrm>
          <a:prstGeom prst="rect">
            <a:avLst/>
          </a:prstGeom>
          <a:solidFill>
            <a:srgbClr val="212932"/>
          </a:solidFill>
          <a:ln w="1270">
            <a:solidFill>
              <a:srgbClr val="212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 w="1270"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58A6FF"/>
          </a:solidFill>
          <a:ln w="127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45752" y="0"/>
            <a:ext cx="2743200" cy="54864"/>
          </a:xfrm>
          <a:prstGeom prst="rect">
            <a:avLst/>
          </a:prstGeom>
          <a:solidFill>
            <a:srgbClr val="BC8CFF"/>
          </a:solidFill>
          <a:ln w="127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B949E"/>
                </a:solidFill>
                <a:latin typeface="Calibri"/>
              </a:rPr>
              <a:t>05 — TECHNICAL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554480" y="0"/>
            <a:ext cx="10972" cy="6858000"/>
          </a:xfrm>
          <a:prstGeom prst="rect">
            <a:avLst/>
          </a:prstGeom>
          <a:solidFill>
            <a:srgbClr val="212932"/>
          </a:solidFill>
          <a:ln w="1270">
            <a:solidFill>
              <a:srgbClr val="212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0" y="0"/>
            <a:ext cx="10972" cy="6858000"/>
          </a:xfrm>
          <a:prstGeom prst="rect">
            <a:avLst/>
          </a:prstGeom>
          <a:solidFill>
            <a:srgbClr val="212932"/>
          </a:solidFill>
          <a:ln w="1270">
            <a:solidFill>
              <a:srgbClr val="212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63440" y="0"/>
            <a:ext cx="10972" cy="6858000"/>
          </a:xfrm>
          <a:prstGeom prst="rect">
            <a:avLst/>
          </a:prstGeom>
          <a:solidFill>
            <a:srgbClr val="212932"/>
          </a:solidFill>
          <a:ln w="1270">
            <a:solidFill>
              <a:srgbClr val="212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0"/>
            <a:ext cx="10972" cy="6858000"/>
          </a:xfrm>
          <a:prstGeom prst="rect">
            <a:avLst/>
          </a:prstGeom>
          <a:solidFill>
            <a:srgbClr val="212932"/>
          </a:solidFill>
          <a:ln w="1270">
            <a:solidFill>
              <a:srgbClr val="212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0" y="0"/>
            <a:ext cx="10972" cy="6858000"/>
          </a:xfrm>
          <a:prstGeom prst="rect">
            <a:avLst/>
          </a:prstGeom>
          <a:solidFill>
            <a:srgbClr val="212932"/>
          </a:solidFill>
          <a:ln w="1270">
            <a:solidFill>
              <a:srgbClr val="212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326880" y="0"/>
            <a:ext cx="10972" cy="6858000"/>
          </a:xfrm>
          <a:prstGeom prst="rect">
            <a:avLst/>
          </a:prstGeom>
          <a:solidFill>
            <a:srgbClr val="212932"/>
          </a:solidFill>
          <a:ln w="1270">
            <a:solidFill>
              <a:srgbClr val="212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881360" y="0"/>
            <a:ext cx="10972" cy="6858000"/>
          </a:xfrm>
          <a:prstGeom prst="rect">
            <a:avLst/>
          </a:prstGeom>
          <a:solidFill>
            <a:srgbClr val="212932"/>
          </a:solidFill>
          <a:ln w="1270">
            <a:solidFill>
              <a:srgbClr val="212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 Light"/>
              </a:rPr>
              <a:t>How It Works Under the Hood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280160"/>
            <a:ext cx="3749039" cy="5212080"/>
          </a:xfrm>
          <a:prstGeom prst="rect">
            <a:avLst/>
          </a:prstGeom>
          <a:solidFill>
            <a:srgbClr val="161B22"/>
          </a:solidFill>
          <a:ln w="127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1280160"/>
            <a:ext cx="3749039" cy="54864"/>
          </a:xfrm>
          <a:prstGeom prst="rect">
            <a:avLst/>
          </a:prstGeom>
          <a:solidFill>
            <a:srgbClr val="58A6FF"/>
          </a:solidFill>
          <a:ln w="127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144475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8A6FF"/>
                </a:solidFill>
                <a:latin typeface="Calibri"/>
              </a:rPr>
              <a:t>LAYER 1 · SMART CONTRACTS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755648"/>
            <a:ext cx="34289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 Light"/>
              </a:rPr>
              <a:t>Move Contracts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2395728"/>
            <a:ext cx="3291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  <a:latin typeface="Calibri"/>
              </a:rPr>
              <a:t>1,089-line Move module on Aptos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779776"/>
            <a:ext cx="3291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  <a:latin typeface="Calibri"/>
              </a:rPr>
              <a:t>Bonding curve formula: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3163824"/>
            <a:ext cx="3291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ourier New"/>
              </a:rPr>
              <a:t>price = 19,029,514,756 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547872"/>
            <a:ext cx="3291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ourier New"/>
              </a:rPr>
              <a:t>(800M − tokens_sold) + 61.9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931920"/>
            <a:ext cx="3291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  <a:latin typeface="Calibri"/>
              </a:rPr>
              <a:t>Events: Created, Purchase,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4315968"/>
            <a:ext cx="3291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  <a:latin typeface="Calibri"/>
              </a:rPr>
              <a:t>Sale, Graduated, Debug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700016"/>
            <a:ext cx="3291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  <a:latin typeface="Calibri"/>
              </a:rPr>
              <a:t>Pre-grad fees: 0.9% platform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084064"/>
            <a:ext cx="3291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  <a:latin typeface="Calibri"/>
              </a:rPr>
              <a:t>+ 0.1% creator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34840" y="1280160"/>
            <a:ext cx="3749039" cy="5212080"/>
          </a:xfrm>
          <a:prstGeom prst="rect">
            <a:avLst/>
          </a:prstGeom>
          <a:solidFill>
            <a:srgbClr val="161B22"/>
          </a:solidFill>
          <a:ln w="127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34840" y="1280160"/>
            <a:ext cx="3749039" cy="54864"/>
          </a:xfrm>
          <a:prstGeom prst="rect">
            <a:avLst/>
          </a:prstGeom>
          <a:solidFill>
            <a:srgbClr val="BC8CFF"/>
          </a:solidFill>
          <a:ln w="127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36008" y="144475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BC8CFF"/>
                </a:solidFill>
                <a:latin typeface="Calibri"/>
              </a:rPr>
              <a:t>LAYER 2 · DATA LAYER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36008" y="1755648"/>
            <a:ext cx="34289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 Light"/>
              </a:rPr>
              <a:t>Indexer + RPC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36008" y="2395728"/>
            <a:ext cx="3291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  <a:latin typeface="Calibri"/>
              </a:rPr>
              <a:t>Geomi No-Code Indexer (GraphQL)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36008" y="2779776"/>
            <a:ext cx="3291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  <a:latin typeface="Calibri"/>
              </a:rPr>
              <a:t>Aptos Fullnode RPC for balances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36008" y="3163824"/>
            <a:ext cx="3291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  <a:latin typeface="Calibri"/>
              </a:rPr>
              <a:t>10-min TTL cache + dedup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36008" y="3547872"/>
            <a:ext cx="3291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  <a:latin typeface="Calibri"/>
              </a:rPr>
              <a:t>Page-visibility polling pause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36008" y="3931920"/>
            <a:ext cx="3291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  <a:latin typeface="Calibri"/>
              </a:rPr>
              <a:t>Custom hooks: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18888" y="4315968"/>
            <a:ext cx="3291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ourier New"/>
              </a:rPr>
              <a:t>useTokenData, useGraduation,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18888" y="4700016"/>
            <a:ext cx="3291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ourier New"/>
              </a:rPr>
              <a:t>useTokenMarketData,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18888" y="5084064"/>
            <a:ext cx="3291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ourier New"/>
              </a:rPr>
              <a:t>useAptPrice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03920" y="1280160"/>
            <a:ext cx="3749039" cy="5212080"/>
          </a:xfrm>
          <a:prstGeom prst="rect">
            <a:avLst/>
          </a:prstGeom>
          <a:solidFill>
            <a:srgbClr val="161B22"/>
          </a:solidFill>
          <a:ln w="127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503920" y="1280160"/>
            <a:ext cx="3749039" cy="54864"/>
          </a:xfrm>
          <a:prstGeom prst="rect">
            <a:avLst/>
          </a:prstGeom>
          <a:solidFill>
            <a:srgbClr val="3FB950"/>
          </a:solidFill>
          <a:ln w="127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05088" y="144475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FB950"/>
                </a:solidFill>
                <a:latin typeface="Calibri"/>
              </a:rPr>
              <a:t>LAYER 3 · DEX INTEGRATION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05088" y="1755648"/>
            <a:ext cx="34289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 Light"/>
              </a:rPr>
              <a:t>Hyperion Graduation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5088" y="2395728"/>
            <a:ext cx="3291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  <a:latin typeface="Calibri"/>
              </a:rPr>
              <a:t>Hyperion SDK full-range pool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05088" y="2779776"/>
            <a:ext cx="3291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  <a:latin typeface="Calibri"/>
              </a:rPr>
              <a:t>Threshold: 1,283 APT raised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05088" y="3163824"/>
            <a:ext cx="3291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  <a:latin typeface="Calibri"/>
              </a:rPr>
              <a:t>→ 1,200 APT migrated to DEX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05088" y="3547872"/>
            <a:ext cx="3291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  <a:latin typeface="Calibri"/>
              </a:rPr>
              <a:t>LP tokens burned (dead addr)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05088" y="3931920"/>
            <a:ext cx="3291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  <a:latin typeface="Calibri"/>
              </a:rPr>
              <a:t>Post-grad fees: 0.05% platform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05088" y="4315968"/>
            <a:ext cx="3291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  <a:latin typeface="Calibri"/>
              </a:rPr>
              <a:t>0.2% creator · 0.05% LP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05088" y="4700016"/>
            <a:ext cx="3291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  <a:latin typeface="Calibri"/>
              </a:rPr>
              <a:t>GraduationListener component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05088" y="5084064"/>
            <a:ext cx="3291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  <a:latin typeface="Calibri"/>
              </a:rPr>
              <a:t>monitors events continuously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33087" y="36576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58A6FF"/>
                </a:solidFill>
                <a:latin typeface="Calibri Light"/>
              </a:rPr>
              <a:t>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02168" y="36576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58A6FF"/>
                </a:solidFill>
                <a:latin typeface="Calibri Light"/>
              </a:rPr>
              <a:t>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ourier New"/>
              </a:rPr>
              <a:t>Frontend: React 18 · TypeScript · @aptos-labs/ts-sdk v1.39.0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 w="1270"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58A6FF"/>
          </a:solidFill>
          <a:ln w="127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45752" y="0"/>
            <a:ext cx="2743200" cy="54864"/>
          </a:xfrm>
          <a:prstGeom prst="rect">
            <a:avLst/>
          </a:prstGeom>
          <a:solidFill>
            <a:srgbClr val="BC8CFF"/>
          </a:solidFill>
          <a:ln w="127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B949E"/>
                </a:solidFill>
                <a:latin typeface="Calibri"/>
              </a:rPr>
              <a:t>06 — USER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 Light"/>
              </a:rPr>
              <a:t>From Idea to DEX Listing in 5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  <a:latin typeface="Calibri"/>
              </a:rPr>
              <a:t>Total elapsed time for a creator: &lt; 60 seconds to launch · &lt; 1 hour to graduate (market-dependent)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28800"/>
            <a:ext cx="2148840" cy="4114800"/>
          </a:xfrm>
          <a:prstGeom prst="rect">
            <a:avLst/>
          </a:prstGeom>
          <a:solidFill>
            <a:srgbClr val="161B22"/>
          </a:solidFill>
          <a:ln w="127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828800"/>
            <a:ext cx="2148840" cy="73152"/>
          </a:xfrm>
          <a:prstGeom prst="rect">
            <a:avLst/>
          </a:prstGeom>
          <a:solidFill>
            <a:srgbClr val="58A6FF"/>
          </a:solidFill>
          <a:ln w="127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920240"/>
            <a:ext cx="2057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 b="1" i="0">
                <a:solidFill>
                  <a:srgbClr val="1A212B"/>
                </a:solidFill>
                <a:latin typeface="Calibri Light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88920"/>
            <a:ext cx="1874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 Light"/>
              </a:rPr>
              <a:t>Connect Wallet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337560"/>
            <a:ext cx="1874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  <a:latin typeface="Calibri"/>
              </a:rPr>
              <a:t>Petra / Google OAuth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349240"/>
            <a:ext cx="1463040" cy="347472"/>
          </a:xfrm>
          <a:prstGeom prst="rect">
            <a:avLst/>
          </a:prstGeom>
          <a:solidFill>
            <a:srgbClr val="58A6FF"/>
          </a:solidFill>
          <a:ln w="127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537667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117"/>
                </a:solidFill>
                <a:latin typeface="Calibri"/>
              </a:rPr>
              <a:t>&lt; 10s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2032" y="34747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8A6FF"/>
                </a:solidFill>
                <a:latin typeface="Calibri Light"/>
              </a:rPr>
              <a:t>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1828800"/>
            <a:ext cx="2148840" cy="4114800"/>
          </a:xfrm>
          <a:prstGeom prst="rect">
            <a:avLst/>
          </a:prstGeom>
          <a:solidFill>
            <a:srgbClr val="161B22"/>
          </a:solidFill>
          <a:ln w="127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0" y="1828800"/>
            <a:ext cx="2148840" cy="73152"/>
          </a:xfrm>
          <a:prstGeom prst="rect">
            <a:avLst/>
          </a:prstGeom>
          <a:solidFill>
            <a:srgbClr val="BC8CFF"/>
          </a:solidFill>
          <a:ln w="127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34640" y="1920240"/>
            <a:ext cx="2057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 b="1" i="0">
                <a:solidFill>
                  <a:srgbClr val="1A212B"/>
                </a:solidFill>
                <a:latin typeface="Calibri Light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2788920"/>
            <a:ext cx="1874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 Light"/>
              </a:rPr>
              <a:t>Create Token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337560"/>
            <a:ext cx="1874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  <a:latin typeface="Calibri"/>
              </a:rPr>
              <a:t>Name, symbol, supply,
image metadata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0" y="5349240"/>
            <a:ext cx="1463040" cy="347472"/>
          </a:xfrm>
          <a:prstGeom prst="rect">
            <a:avLst/>
          </a:prstGeom>
          <a:solidFill>
            <a:srgbClr val="BC8CFF"/>
          </a:solidFill>
          <a:ln w="127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20" y="537667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117"/>
                </a:solidFill>
                <a:latin typeface="Calibri"/>
              </a:rPr>
              <a:t>0.2 APT fee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65192" y="34747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8A6FF"/>
                </a:solidFill>
                <a:latin typeface="Calibri Light"/>
              </a:rPr>
              <a:t>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66360" y="1828800"/>
            <a:ext cx="2148840" cy="4114800"/>
          </a:xfrm>
          <a:prstGeom prst="rect">
            <a:avLst/>
          </a:prstGeom>
          <a:solidFill>
            <a:srgbClr val="161B22"/>
          </a:solidFill>
          <a:ln w="127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66360" y="1828800"/>
            <a:ext cx="2148840" cy="73152"/>
          </a:xfrm>
          <a:prstGeom prst="rect">
            <a:avLst/>
          </a:prstGeom>
          <a:solidFill>
            <a:srgbClr val="F78516"/>
          </a:solidFill>
          <a:ln w="1270">
            <a:solidFill>
              <a:srgbClr val="F785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57800" y="1920240"/>
            <a:ext cx="2057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 b="1" i="0">
                <a:solidFill>
                  <a:srgbClr val="1A212B"/>
                </a:solidFill>
                <a:latin typeface="Calibri Light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2788920"/>
            <a:ext cx="1874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 Light"/>
              </a:rPr>
              <a:t>Community Buys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3337560"/>
            <a:ext cx="1874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  <a:latin typeface="Calibri"/>
              </a:rPr>
              <a:t>Bonding curve drives
price discovery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49240" y="5349240"/>
            <a:ext cx="1463040" cy="347472"/>
          </a:xfrm>
          <a:prstGeom prst="rect">
            <a:avLst/>
          </a:prstGeom>
          <a:solidFill>
            <a:srgbClr val="F78516"/>
          </a:solidFill>
          <a:ln w="1270">
            <a:solidFill>
              <a:srgbClr val="F785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40680" y="537667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117"/>
                </a:solidFill>
                <a:latin typeface="Calibri"/>
              </a:rPr>
              <a:t>Auto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88352" y="34747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8A6FF"/>
                </a:solidFill>
                <a:latin typeface="Calibri Light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0" y="1828800"/>
            <a:ext cx="2148840" cy="4114800"/>
          </a:xfrm>
          <a:prstGeom prst="rect">
            <a:avLst/>
          </a:prstGeom>
          <a:solidFill>
            <a:srgbClr val="161B22"/>
          </a:solidFill>
          <a:ln w="127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589520" y="1828800"/>
            <a:ext cx="2148840" cy="73152"/>
          </a:xfrm>
          <a:prstGeom prst="rect">
            <a:avLst/>
          </a:prstGeom>
          <a:solidFill>
            <a:srgbClr val="3FB950"/>
          </a:solidFill>
          <a:ln w="127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0" y="1920240"/>
            <a:ext cx="2057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 b="1" i="0">
                <a:solidFill>
                  <a:srgbClr val="1A212B"/>
                </a:solidFill>
                <a:latin typeface="Calibri Light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2788920"/>
            <a:ext cx="1874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 Light"/>
              </a:rPr>
              <a:t>Graduation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3337560"/>
            <a:ext cx="1874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  <a:latin typeface="Calibri"/>
              </a:rPr>
              <a:t>1,283 APT raised →
Hyperion pool created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0" y="5349240"/>
            <a:ext cx="1463040" cy="347472"/>
          </a:xfrm>
          <a:prstGeom prst="rect">
            <a:avLst/>
          </a:prstGeom>
          <a:solidFill>
            <a:srgbClr val="3FB950"/>
          </a:solidFill>
          <a:ln w="127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63840" y="537667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117"/>
                </a:solidFill>
                <a:latin typeface="Calibri"/>
              </a:rPr>
              <a:t>83 APT fee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11512" y="34747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8A6FF"/>
                </a:solidFill>
                <a:latin typeface="Calibri Light"/>
              </a:rPr>
              <a:t>›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12680" y="1828800"/>
            <a:ext cx="2148840" cy="4114800"/>
          </a:xfrm>
          <a:prstGeom prst="rect">
            <a:avLst/>
          </a:prstGeom>
          <a:solidFill>
            <a:srgbClr val="161B22"/>
          </a:solidFill>
          <a:ln w="127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012680" y="1828800"/>
            <a:ext cx="2148840" cy="73152"/>
          </a:xfrm>
          <a:prstGeom prst="rect">
            <a:avLst/>
          </a:prstGeom>
          <a:solidFill>
            <a:srgbClr val="58A6FF"/>
          </a:solidFill>
          <a:ln w="127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04120" y="1920240"/>
            <a:ext cx="2057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 b="1" i="0">
                <a:solidFill>
                  <a:srgbClr val="1A212B"/>
                </a:solidFill>
                <a:latin typeface="Calibri Light"/>
              </a:rPr>
              <a:t>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95560" y="2788920"/>
            <a:ext cx="1874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 Light"/>
              </a:rPr>
              <a:t>DEX Trading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95560" y="3337560"/>
            <a:ext cx="1874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  <a:latin typeface="Calibri"/>
              </a:rPr>
              <a:t>Full AMM liquidity,
LP permanently locked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195560" y="5349240"/>
            <a:ext cx="1463040" cy="347472"/>
          </a:xfrm>
          <a:prstGeom prst="rect">
            <a:avLst/>
          </a:prstGeom>
          <a:solidFill>
            <a:srgbClr val="58A6FF"/>
          </a:solidFill>
          <a:ln w="127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287000" y="537667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117"/>
                </a:solidFill>
                <a:latin typeface="Calibri"/>
              </a:rPr>
              <a:t>∞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6217920"/>
            <a:ext cx="11521440" cy="502920"/>
          </a:xfrm>
          <a:prstGeom prst="rect">
            <a:avLst/>
          </a:prstGeom>
          <a:solidFill>
            <a:srgbClr val="1C242E"/>
          </a:solidFill>
          <a:ln w="1270">
            <a:solidFill>
              <a:srgbClr val="1C2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628192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⚡  GraduationListener runs in the background — creators never have to manually trigger the DEX migration.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 w="1270"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58A6FF"/>
          </a:solidFill>
          <a:ln w="127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45752" y="0"/>
            <a:ext cx="2743200" cy="54864"/>
          </a:xfrm>
          <a:prstGeom prst="rect">
            <a:avLst/>
          </a:prstGeom>
          <a:solidFill>
            <a:srgbClr val="BC8CFF"/>
          </a:solidFill>
          <a:ln w="127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B949E"/>
                </a:solidFill>
                <a:latin typeface="Calibri"/>
              </a:rPr>
              <a:t>07 — MARKET STRATEGY &amp; 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 Light"/>
              </a:rPr>
              <a:t>A Self-Sustaining Fee Engine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669280" cy="5120640"/>
          </a:xfrm>
          <a:prstGeom prst="rect">
            <a:avLst/>
          </a:prstGeom>
          <a:solidFill>
            <a:srgbClr val="161B22"/>
          </a:solidFill>
          <a:ln w="127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630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78516"/>
                </a:solidFill>
                <a:latin typeface="Calibri"/>
              </a:rPr>
              <a:t>FEE STRUCTURE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54864" cy="658368"/>
          </a:xfrm>
          <a:prstGeom prst="rect">
            <a:avLst/>
          </a:prstGeom>
          <a:solidFill>
            <a:srgbClr val="F78516"/>
          </a:solidFill>
          <a:ln w="1270">
            <a:solidFill>
              <a:srgbClr val="F785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874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  <a:latin typeface="Calibri"/>
              </a:rPr>
              <a:t>Launch Fee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8745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78516"/>
                </a:solidFill>
                <a:latin typeface="Calibri Light"/>
              </a:rPr>
              <a:t>0.2 APT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21284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Per token created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43200"/>
            <a:ext cx="54864" cy="658368"/>
          </a:xfrm>
          <a:prstGeom prst="rect">
            <a:avLst/>
          </a:prstGeom>
          <a:solidFill>
            <a:srgbClr val="58A6FF"/>
          </a:solidFill>
          <a:ln w="127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7889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  <a:latin typeface="Calibri"/>
              </a:rPr>
              <a:t>Pre-grad Trade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7889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8A6FF"/>
                </a:solidFill>
                <a:latin typeface="Calibri Light"/>
              </a:rPr>
              <a:t>0.9% + 0.1%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12724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Platform + creator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57600"/>
            <a:ext cx="54864" cy="658368"/>
          </a:xfrm>
          <a:prstGeom prst="rect">
            <a:avLst/>
          </a:prstGeom>
          <a:solidFill>
            <a:srgbClr val="3FB950"/>
          </a:solidFill>
          <a:ln w="127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7033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  <a:latin typeface="Calibri"/>
              </a:rPr>
              <a:t>Post-grad Trade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7033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FB950"/>
                </a:solidFill>
                <a:latin typeface="Calibri Light"/>
              </a:rPr>
              <a:t>0.05% + 0.2%+0.05%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04164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Platform/Creator/LP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572000"/>
            <a:ext cx="54864" cy="658368"/>
          </a:xfrm>
          <a:prstGeom prst="rect">
            <a:avLst/>
          </a:prstGeom>
          <a:solidFill>
            <a:srgbClr val="BC8CFF"/>
          </a:solidFill>
          <a:ln w="127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6177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  <a:latin typeface="Calibri"/>
              </a:rPr>
              <a:t>Graduation Fee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6177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C8CFF"/>
                </a:solidFill>
                <a:latin typeface="Calibri Light"/>
              </a:rPr>
              <a:t>83 APT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95604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60 platform + 23 creator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1280160"/>
            <a:ext cx="5486400" cy="5120640"/>
          </a:xfrm>
          <a:prstGeom prst="rect">
            <a:avLst/>
          </a:prstGeom>
          <a:solidFill>
            <a:srgbClr val="1C242E"/>
          </a:solidFill>
          <a:ln w="1270">
            <a:solidFill>
              <a:srgbClr val="1C2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14630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FB950"/>
                </a:solidFill>
                <a:latin typeface="Calibri"/>
              </a:rPr>
              <a:t>REVENUE SCENARIOS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1874519"/>
            <a:ext cx="5303520" cy="960120"/>
          </a:xfrm>
          <a:prstGeom prst="rect">
            <a:avLst/>
          </a:prstGeom>
          <a:solidFill>
            <a:srgbClr val="161B22"/>
          </a:solidFill>
          <a:ln w="127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1874519"/>
            <a:ext cx="54864" cy="960120"/>
          </a:xfrm>
          <a:prstGeom prst="rect">
            <a:avLst/>
          </a:prstGeom>
          <a:solidFill>
            <a:srgbClr val="8B949E"/>
          </a:solidFill>
          <a:ln w="127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1947671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949E"/>
                </a:solidFill>
                <a:latin typeface="Calibri Light"/>
              </a:rPr>
              <a:t>Conservative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2331719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50 tokens/mo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1947671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 Light"/>
              </a:rPr>
              <a:t>~$2,800/mo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0" y="1947671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949E"/>
                </a:solidFill>
                <a:latin typeface="Calibri"/>
              </a:rPr>
              <a:t>~$34K ARR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2971799"/>
            <a:ext cx="5303520" cy="960120"/>
          </a:xfrm>
          <a:prstGeom prst="rect">
            <a:avLst/>
          </a:prstGeom>
          <a:solidFill>
            <a:srgbClr val="161B22"/>
          </a:solidFill>
          <a:ln w="127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0" y="2971799"/>
            <a:ext cx="54864" cy="960120"/>
          </a:xfrm>
          <a:prstGeom prst="rect">
            <a:avLst/>
          </a:prstGeom>
          <a:solidFill>
            <a:srgbClr val="58A6FF"/>
          </a:solidFill>
          <a:ln w="127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3044951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  <a:latin typeface="Calibri Light"/>
              </a:rPr>
              <a:t>Base Case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3428999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300 tokens/mo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3044951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 Light"/>
              </a:rPr>
              <a:t>~$18,400/mo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0" y="3044951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  <a:latin typeface="Calibri"/>
              </a:rPr>
              <a:t>~$220K ARR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4069079"/>
            <a:ext cx="5303520" cy="960120"/>
          </a:xfrm>
          <a:prstGeom prst="rect">
            <a:avLst/>
          </a:prstGeom>
          <a:solidFill>
            <a:srgbClr val="161B22"/>
          </a:solidFill>
          <a:ln w="127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0" y="4069079"/>
            <a:ext cx="54864" cy="960120"/>
          </a:xfrm>
          <a:prstGeom prst="rect">
            <a:avLst/>
          </a:prstGeom>
          <a:solidFill>
            <a:srgbClr val="3FB950"/>
          </a:solidFill>
          <a:ln w="127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4142231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FB950"/>
                </a:solidFill>
                <a:latin typeface="Calibri Light"/>
              </a:rPr>
              <a:t>Growth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4526279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1,000 tokens/mo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4142231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 Light"/>
              </a:rPr>
              <a:t>~$72,000/mo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49840" y="4142231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  <a:latin typeface="Calibri"/>
              </a:rPr>
              <a:t>~$864K ARR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5166359"/>
            <a:ext cx="5303520" cy="960120"/>
          </a:xfrm>
          <a:prstGeom prst="rect">
            <a:avLst/>
          </a:prstGeom>
          <a:solidFill>
            <a:srgbClr val="161B22"/>
          </a:solidFill>
          <a:ln w="127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00800" y="5166359"/>
            <a:ext cx="54864" cy="960120"/>
          </a:xfrm>
          <a:prstGeom prst="rect">
            <a:avLst/>
          </a:prstGeom>
          <a:solidFill>
            <a:srgbClr val="F78516"/>
          </a:solidFill>
          <a:ln w="1270">
            <a:solidFill>
              <a:srgbClr val="F785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0" y="5239511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8516"/>
                </a:solidFill>
                <a:latin typeface="Calibri Light"/>
              </a:rPr>
              <a:t>Viral (1%)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5623559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10K tokens/mo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5239511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 Light"/>
              </a:rPr>
              <a:t>~$680,000/mo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49840" y="5239511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8516"/>
                </a:solidFill>
                <a:latin typeface="Calibri"/>
              </a:rPr>
              <a:t>~$8.2M ARR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565392"/>
            <a:ext cx="11338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Calibri"/>
              </a:rPr>
              <a:t>* Estimates based on 300 APT avg raise/token, APT at $8. Excludes post-graduation ongoing trade volume.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 w="1270"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58A6FF"/>
          </a:solidFill>
          <a:ln w="127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45752" y="0"/>
            <a:ext cx="2743200" cy="54864"/>
          </a:xfrm>
          <a:prstGeom prst="rect">
            <a:avLst/>
          </a:prstGeom>
          <a:solidFill>
            <a:srgbClr val="BC8CFF"/>
          </a:solidFill>
          <a:ln w="127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B949E"/>
                </a:solidFill>
                <a:latin typeface="Calibri"/>
              </a:rPr>
              <a:t>08 — SCALABILITY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 Light"/>
              </a:rPr>
              <a:t>Built to Handle 100× Growth Without Rewrites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  <a:latin typeface="Calibri"/>
              </a:rPr>
              <a:t>3-phase architecture embedded in the codebase — not an afterthought.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45920"/>
            <a:ext cx="3749039" cy="4846320"/>
          </a:xfrm>
          <a:prstGeom prst="rect">
            <a:avLst/>
          </a:prstGeom>
          <a:solidFill>
            <a:srgbClr val="161B22"/>
          </a:solidFill>
          <a:ln w="127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645920"/>
            <a:ext cx="3749039" cy="64008"/>
          </a:xfrm>
          <a:prstGeom prst="rect">
            <a:avLst/>
          </a:prstGeom>
          <a:solidFill>
            <a:srgbClr val="58A6FF"/>
          </a:solidFill>
          <a:ln w="127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28800"/>
            <a:ext cx="818388" cy="246888"/>
          </a:xfrm>
          <a:prstGeom prst="rect">
            <a:avLst/>
          </a:prstGeom>
          <a:solidFill>
            <a:srgbClr val="58A6FF"/>
          </a:solidFill>
          <a:ln w="127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856232"/>
            <a:ext cx="6812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117"/>
                </a:solidFill>
                <a:latin typeface="Calibri"/>
              </a:rPr>
              <a:t>PHASE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72768" y="1828800"/>
            <a:ext cx="507491" cy="246888"/>
          </a:xfrm>
          <a:prstGeom prst="rect">
            <a:avLst/>
          </a:prstGeom>
          <a:solidFill>
            <a:srgbClr val="1C242E"/>
          </a:solidFill>
          <a:ln w="1270">
            <a:solidFill>
              <a:srgbClr val="1C2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64208" y="1856232"/>
            <a:ext cx="3703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8A6FF"/>
                </a:solidFill>
                <a:latin typeface="Calibri"/>
              </a:rPr>
              <a:t>NOW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240280"/>
            <a:ext cx="34289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 Light"/>
              </a:rPr>
              <a:t>Smart Polling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834640"/>
            <a:ext cx="34289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• Per-client HTTP polling to Geomi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209544"/>
            <a:ext cx="34289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• 10-min TTL cache per user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584448"/>
            <a:ext cx="34289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• Request deduplication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959352"/>
            <a:ext cx="34289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• Visibility API stops polling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334256"/>
            <a:ext cx="34289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• when tab is hidden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846320"/>
            <a:ext cx="34289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• Capacity: ~500 concurrent users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5989320"/>
            <a:ext cx="3346703" cy="347472"/>
          </a:xfrm>
          <a:prstGeom prst="rect">
            <a:avLst/>
          </a:prstGeom>
          <a:solidFill>
            <a:srgbClr val="58A6FF"/>
          </a:solidFill>
          <a:ln w="127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5998464"/>
            <a:ext cx="324611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117"/>
                </a:solidFill>
                <a:latin typeface="Courier New"/>
              </a:rPr>
              <a:t>~$0.08 / 1K req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40" y="1645920"/>
            <a:ext cx="3749039" cy="4846320"/>
          </a:xfrm>
          <a:prstGeom prst="rect">
            <a:avLst/>
          </a:prstGeom>
          <a:solidFill>
            <a:srgbClr val="161B22"/>
          </a:solidFill>
          <a:ln w="127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34840" y="1645920"/>
            <a:ext cx="3749039" cy="64008"/>
          </a:xfrm>
          <a:prstGeom prst="rect">
            <a:avLst/>
          </a:prstGeom>
          <a:solidFill>
            <a:srgbClr val="BC8CFF"/>
          </a:solidFill>
          <a:ln w="127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36008" y="1828800"/>
            <a:ext cx="818388" cy="246888"/>
          </a:xfrm>
          <a:prstGeom prst="rect">
            <a:avLst/>
          </a:prstGeom>
          <a:solidFill>
            <a:srgbClr val="BC8CFF"/>
          </a:solidFill>
          <a:ln w="127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27448" y="1856232"/>
            <a:ext cx="6812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117"/>
                </a:solidFill>
                <a:latin typeface="Calibri"/>
              </a:rPr>
              <a:t>PHASE 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41848" y="1828800"/>
            <a:ext cx="585216" cy="246888"/>
          </a:xfrm>
          <a:prstGeom prst="rect">
            <a:avLst/>
          </a:prstGeom>
          <a:solidFill>
            <a:srgbClr val="1C242E"/>
          </a:solidFill>
          <a:ln w="1270">
            <a:solidFill>
              <a:srgbClr val="1C2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33288" y="1856232"/>
            <a:ext cx="4480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C8CFF"/>
                </a:solidFill>
                <a:latin typeface="Calibri"/>
              </a:rPr>
              <a:t>NEXT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36008" y="2240280"/>
            <a:ext cx="34289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 Light"/>
              </a:rPr>
              <a:t>WebSocket Broadcast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36008" y="2834640"/>
            <a:ext cx="34289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• 1 server polls Geomi → pushes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36008" y="3209544"/>
            <a:ext cx="34289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• updates to all connected clients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36008" y="3584448"/>
            <a:ext cx="34289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• 99.95% reduction in API calls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36008" y="3959352"/>
            <a:ext cx="34289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• Sub-second latency for all users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36008" y="4334256"/>
            <a:ext cx="34289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• Redis pub/sub for horizontal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36008" y="4709160"/>
            <a:ext cx="34289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• scaling across server instances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36008" y="5221224"/>
            <a:ext cx="34289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• Capacity: ~50,000 concurrent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36008" y="5989320"/>
            <a:ext cx="3346703" cy="347472"/>
          </a:xfrm>
          <a:prstGeom prst="rect">
            <a:avLst/>
          </a:prstGeom>
          <a:solidFill>
            <a:srgbClr val="BC8CFF"/>
          </a:solidFill>
          <a:ln w="127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27448" y="5998464"/>
            <a:ext cx="324611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117"/>
                </a:solidFill>
                <a:latin typeface="Courier New"/>
              </a:rPr>
              <a:t>~$0.0004 / 1K req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03920" y="1645920"/>
            <a:ext cx="3749039" cy="4846320"/>
          </a:xfrm>
          <a:prstGeom prst="rect">
            <a:avLst/>
          </a:prstGeom>
          <a:solidFill>
            <a:srgbClr val="161B22"/>
          </a:solidFill>
          <a:ln w="127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03920" y="1645920"/>
            <a:ext cx="3749039" cy="64008"/>
          </a:xfrm>
          <a:prstGeom prst="rect">
            <a:avLst/>
          </a:prstGeom>
          <a:solidFill>
            <a:srgbClr val="3FB950"/>
          </a:solidFill>
          <a:ln w="127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705088" y="1828800"/>
            <a:ext cx="818388" cy="246888"/>
          </a:xfrm>
          <a:prstGeom prst="rect">
            <a:avLst/>
          </a:prstGeom>
          <a:solidFill>
            <a:srgbClr val="3FB950"/>
          </a:solidFill>
          <a:ln w="127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96528" y="1856232"/>
            <a:ext cx="6812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117"/>
                </a:solidFill>
                <a:latin typeface="Calibri"/>
              </a:rPr>
              <a:t>PHASE 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10928" y="1828800"/>
            <a:ext cx="662940" cy="246888"/>
          </a:xfrm>
          <a:prstGeom prst="rect">
            <a:avLst/>
          </a:prstGeom>
          <a:solidFill>
            <a:srgbClr val="1C242E"/>
          </a:solidFill>
          <a:ln w="1270">
            <a:solidFill>
              <a:srgbClr val="1C2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02368" y="1856232"/>
            <a:ext cx="5257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FB950"/>
                </a:solidFill>
                <a:latin typeface="Calibri"/>
              </a:rPr>
              <a:t>SCALE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05088" y="2240280"/>
            <a:ext cx="34289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 Light"/>
              </a:rPr>
              <a:t>gRPC Streaming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05088" y="2834640"/>
            <a:ext cx="34289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• Direct Aptos gRPC stream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05088" y="3209544"/>
            <a:ext cx="34289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• Zero polling — event-driven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05088" y="3584448"/>
            <a:ext cx="34289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• Real-time at blockchain speed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05088" y="3959352"/>
            <a:ext cx="34289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• Free data ingestion from node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05088" y="4334256"/>
            <a:ext cx="34289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• Unlimited concurrent users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05088" y="4709160"/>
            <a:ext cx="34289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• Horizontal microservice arch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05088" y="5221224"/>
            <a:ext cx="34289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• Capacity: Unlimited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05088" y="5989320"/>
            <a:ext cx="3346703" cy="347472"/>
          </a:xfrm>
          <a:prstGeom prst="rect">
            <a:avLst/>
          </a:prstGeom>
          <a:solidFill>
            <a:srgbClr val="3FB950"/>
          </a:solidFill>
          <a:ln w="127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96528" y="5998464"/>
            <a:ext cx="324611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117"/>
                </a:solidFill>
                <a:latin typeface="Courier New"/>
              </a:rPr>
              <a:t>~$0 / event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33087" y="38404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58A6FF"/>
                </a:solidFill>
                <a:latin typeface="Calibri Light"/>
              </a:rPr>
              <a:t>→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02168" y="38404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58A6FF"/>
                </a:solidFill>
                <a:latin typeface="Calibri Light"/>
              </a:rPr>
              <a:t>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 w="1270"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58A6FF"/>
          </a:solidFill>
          <a:ln w="127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45752" y="0"/>
            <a:ext cx="2743200" cy="54864"/>
          </a:xfrm>
          <a:prstGeom prst="rect">
            <a:avLst/>
          </a:prstGeom>
          <a:solidFill>
            <a:srgbClr val="BC8CFF"/>
          </a:solidFill>
          <a:ln w="127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B949E"/>
                </a:solidFill>
                <a:latin typeface="Calibri"/>
              </a:rPr>
              <a:t>09 — COMPETITIVE MOAT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 Light"/>
              </a:rPr>
              <a:t>Why MoveMint Wins — and Stays Won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280160"/>
            <a:ext cx="1691640" cy="502920"/>
          </a:xfrm>
          <a:prstGeom prst="rect">
            <a:avLst/>
          </a:prstGeom>
          <a:solidFill>
            <a:srgbClr val="161B22"/>
          </a:solidFill>
          <a:ln w="127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64608" y="1325880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  <a:latin typeface="Calibri Light"/>
              </a:rPr>
              <a:t>MoveMint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556248" y="1280160"/>
            <a:ext cx="1691640" cy="502920"/>
          </a:xfrm>
          <a:prstGeom prst="rect">
            <a:avLst/>
          </a:prstGeom>
          <a:solidFill>
            <a:srgbClr val="161B22"/>
          </a:solidFill>
          <a:ln w="127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65976" y="1325880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B949E"/>
                </a:solidFill>
                <a:latin typeface="Calibri Light"/>
              </a:rPr>
              <a:t>Pump.fun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57616" y="1280160"/>
            <a:ext cx="1691640" cy="502920"/>
          </a:xfrm>
          <a:prstGeom prst="rect">
            <a:avLst/>
          </a:prstGeom>
          <a:solidFill>
            <a:srgbClr val="161B22"/>
          </a:solidFill>
          <a:ln w="127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67344" y="1325880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B949E"/>
                </a:solidFill>
                <a:latin typeface="Calibri Light"/>
              </a:rPr>
              <a:t>Cetus (Aptos)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158984" y="1280160"/>
            <a:ext cx="1691640" cy="502920"/>
          </a:xfrm>
          <a:prstGeom prst="rect">
            <a:avLst/>
          </a:prstGeom>
          <a:solidFill>
            <a:srgbClr val="161B22"/>
          </a:solidFill>
          <a:ln w="127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68712" y="1325880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B949E"/>
                </a:solidFill>
                <a:latin typeface="Calibri Light"/>
              </a:rPr>
              <a:t>DIY / Manual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874519"/>
            <a:ext cx="4206240" cy="512064"/>
          </a:xfrm>
          <a:prstGeom prst="rect">
            <a:avLst/>
          </a:prstGeom>
          <a:solidFill>
            <a:srgbClr val="161B22"/>
          </a:solidFill>
          <a:ln w="127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965959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alibri"/>
              </a:rPr>
              <a:t>Aptos-native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1874519"/>
            <a:ext cx="1691640" cy="512064"/>
          </a:xfrm>
          <a:prstGeom prst="rect">
            <a:avLst/>
          </a:prstGeom>
          <a:solidFill>
            <a:srgbClr val="161B22"/>
          </a:solidFill>
          <a:ln w="127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1947671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FB950"/>
                </a:solidFill>
                <a:latin typeface="Calibri Light"/>
              </a:rPr>
              <a:t>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56248" y="1874519"/>
            <a:ext cx="1691640" cy="512064"/>
          </a:xfrm>
          <a:prstGeom prst="rect">
            <a:avLst/>
          </a:prstGeom>
          <a:solidFill>
            <a:srgbClr val="161B22"/>
          </a:solidFill>
          <a:ln w="127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56248" y="1947671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12932"/>
                </a:solidFill>
                <a:latin typeface="Calibri Light"/>
              </a:rPr>
              <a:t>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57616" y="1874519"/>
            <a:ext cx="1691640" cy="512064"/>
          </a:xfrm>
          <a:prstGeom prst="rect">
            <a:avLst/>
          </a:prstGeom>
          <a:solidFill>
            <a:srgbClr val="161B22"/>
          </a:solidFill>
          <a:ln w="127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57616" y="1947671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FB950"/>
                </a:solidFill>
                <a:latin typeface="Calibri Light"/>
              </a:rPr>
              <a:t>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158984" y="1874519"/>
            <a:ext cx="1691640" cy="512064"/>
          </a:xfrm>
          <a:prstGeom prst="rect">
            <a:avLst/>
          </a:prstGeom>
          <a:solidFill>
            <a:srgbClr val="161B22"/>
          </a:solidFill>
          <a:ln w="127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58984" y="1947671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FB950"/>
                </a:solidFill>
                <a:latin typeface="Calibri Light"/>
              </a:rPr>
              <a:t>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441447"/>
            <a:ext cx="4206240" cy="512064"/>
          </a:xfrm>
          <a:prstGeom prst="rect">
            <a:avLst/>
          </a:prstGeom>
          <a:solidFill>
            <a:srgbClr val="1C242E"/>
          </a:solidFill>
          <a:ln w="1270">
            <a:solidFill>
              <a:srgbClr val="1C2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2532887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alibri"/>
              </a:rPr>
              <a:t>Bonding curve AMM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2441447"/>
            <a:ext cx="1691640" cy="512064"/>
          </a:xfrm>
          <a:prstGeom prst="rect">
            <a:avLst/>
          </a:prstGeom>
          <a:solidFill>
            <a:srgbClr val="1C242E"/>
          </a:solidFill>
          <a:ln w="1270">
            <a:solidFill>
              <a:srgbClr val="1C2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0" y="2514599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FB950"/>
                </a:solidFill>
                <a:latin typeface="Calibri Light"/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56248" y="2441447"/>
            <a:ext cx="1691640" cy="512064"/>
          </a:xfrm>
          <a:prstGeom prst="rect">
            <a:avLst/>
          </a:prstGeom>
          <a:solidFill>
            <a:srgbClr val="1C242E"/>
          </a:solidFill>
          <a:ln w="1270">
            <a:solidFill>
              <a:srgbClr val="1C2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6248" y="2514599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FB950"/>
                </a:solidFill>
                <a:latin typeface="Calibri Light"/>
              </a:rPr>
              <a:t>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57616" y="2441447"/>
            <a:ext cx="1691640" cy="512064"/>
          </a:xfrm>
          <a:prstGeom prst="rect">
            <a:avLst/>
          </a:prstGeom>
          <a:solidFill>
            <a:srgbClr val="1C242E"/>
          </a:solidFill>
          <a:ln w="1270">
            <a:solidFill>
              <a:srgbClr val="1C2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57616" y="2514599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12932"/>
                </a:solidFill>
                <a:latin typeface="Calibri Light"/>
              </a:rPr>
              <a:t>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158984" y="2441447"/>
            <a:ext cx="1691640" cy="512064"/>
          </a:xfrm>
          <a:prstGeom prst="rect">
            <a:avLst/>
          </a:prstGeom>
          <a:solidFill>
            <a:srgbClr val="1C242E"/>
          </a:solidFill>
          <a:ln w="1270">
            <a:solidFill>
              <a:srgbClr val="1C2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58984" y="2514599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12932"/>
                </a:solidFill>
                <a:latin typeface="Calibri Light"/>
              </a:rP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008375"/>
            <a:ext cx="4206240" cy="512064"/>
          </a:xfrm>
          <a:prstGeom prst="rect">
            <a:avLst/>
          </a:prstGeom>
          <a:solidFill>
            <a:srgbClr val="161B22"/>
          </a:solidFill>
          <a:ln w="127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3099815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alibri"/>
              </a:rPr>
              <a:t>Auto DEX graduation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54880" y="3008375"/>
            <a:ext cx="1691640" cy="512064"/>
          </a:xfrm>
          <a:prstGeom prst="rect">
            <a:avLst/>
          </a:prstGeom>
          <a:solidFill>
            <a:srgbClr val="161B22"/>
          </a:solidFill>
          <a:ln w="127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0" y="3081527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FB950"/>
                </a:solidFill>
                <a:latin typeface="Calibri Light"/>
              </a:rPr>
              <a:t>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56248" y="3008375"/>
            <a:ext cx="1691640" cy="512064"/>
          </a:xfrm>
          <a:prstGeom prst="rect">
            <a:avLst/>
          </a:prstGeom>
          <a:solidFill>
            <a:srgbClr val="161B22"/>
          </a:solidFill>
          <a:ln w="127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56248" y="3081527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FB950"/>
                </a:solidFill>
                <a:latin typeface="Calibri Light"/>
              </a:rPr>
              <a:t>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57616" y="3008375"/>
            <a:ext cx="1691640" cy="512064"/>
          </a:xfrm>
          <a:prstGeom prst="rect">
            <a:avLst/>
          </a:prstGeom>
          <a:solidFill>
            <a:srgbClr val="161B22"/>
          </a:solidFill>
          <a:ln w="127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57616" y="3081527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12932"/>
                </a:solidFill>
                <a:latin typeface="Calibri Light"/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158984" y="3008375"/>
            <a:ext cx="1691640" cy="512064"/>
          </a:xfrm>
          <a:prstGeom prst="rect">
            <a:avLst/>
          </a:prstGeom>
          <a:solidFill>
            <a:srgbClr val="161B22"/>
          </a:solidFill>
          <a:ln w="127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158984" y="3081527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12932"/>
                </a:solidFill>
                <a:latin typeface="Calibri Light"/>
              </a:rPr>
              <a:t>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575303"/>
            <a:ext cx="4206240" cy="512064"/>
          </a:xfrm>
          <a:prstGeom prst="rect">
            <a:avLst/>
          </a:prstGeom>
          <a:solidFill>
            <a:srgbClr val="1C242E"/>
          </a:solidFill>
          <a:ln w="1270">
            <a:solidFill>
              <a:srgbClr val="1C2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3666743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alibri"/>
              </a:rPr>
              <a:t>Locked liquidity (LP burn)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54880" y="3575303"/>
            <a:ext cx="1691640" cy="512064"/>
          </a:xfrm>
          <a:prstGeom prst="rect">
            <a:avLst/>
          </a:prstGeom>
          <a:solidFill>
            <a:srgbClr val="1C242E"/>
          </a:solidFill>
          <a:ln w="1270">
            <a:solidFill>
              <a:srgbClr val="1C2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54880" y="3648455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FB950"/>
                </a:solidFill>
                <a:latin typeface="Calibri Light"/>
              </a:rPr>
              <a:t>✓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56248" y="3575303"/>
            <a:ext cx="1691640" cy="512064"/>
          </a:xfrm>
          <a:prstGeom prst="rect">
            <a:avLst/>
          </a:prstGeom>
          <a:solidFill>
            <a:srgbClr val="1C242E"/>
          </a:solidFill>
          <a:ln w="1270">
            <a:solidFill>
              <a:srgbClr val="1C2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56248" y="3648455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FB950"/>
                </a:solidFill>
                <a:latin typeface="Calibri Light"/>
              </a:rPr>
              <a:t>✓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57616" y="3575303"/>
            <a:ext cx="1691640" cy="512064"/>
          </a:xfrm>
          <a:prstGeom prst="rect">
            <a:avLst/>
          </a:prstGeom>
          <a:solidFill>
            <a:srgbClr val="1C242E"/>
          </a:solidFill>
          <a:ln w="1270">
            <a:solidFill>
              <a:srgbClr val="1C2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57616" y="3648455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12932"/>
                </a:solidFill>
                <a:latin typeface="Calibri Light"/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158984" y="3575303"/>
            <a:ext cx="1691640" cy="512064"/>
          </a:xfrm>
          <a:prstGeom prst="rect">
            <a:avLst/>
          </a:prstGeom>
          <a:solidFill>
            <a:srgbClr val="1C242E"/>
          </a:solidFill>
          <a:ln w="1270">
            <a:solidFill>
              <a:srgbClr val="1C2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58984" y="3648455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12932"/>
                </a:solidFill>
                <a:latin typeface="Calibri Light"/>
              </a:rPr>
              <a:t>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4142231"/>
            <a:ext cx="4206240" cy="512064"/>
          </a:xfrm>
          <a:prstGeom prst="rect">
            <a:avLst/>
          </a:prstGeom>
          <a:solidFill>
            <a:srgbClr val="161B22"/>
          </a:solidFill>
          <a:ln w="127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" y="4233671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alibri"/>
              </a:rPr>
              <a:t>Creator royalties on trades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754880" y="4142231"/>
            <a:ext cx="1691640" cy="512064"/>
          </a:xfrm>
          <a:prstGeom prst="rect">
            <a:avLst/>
          </a:prstGeom>
          <a:solidFill>
            <a:srgbClr val="161B22"/>
          </a:solidFill>
          <a:ln w="127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754880" y="4215383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FB950"/>
                </a:solidFill>
                <a:latin typeface="Calibri Light"/>
              </a:rPr>
              <a:t>✓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556248" y="4142231"/>
            <a:ext cx="1691640" cy="512064"/>
          </a:xfrm>
          <a:prstGeom prst="rect">
            <a:avLst/>
          </a:prstGeom>
          <a:solidFill>
            <a:srgbClr val="161B22"/>
          </a:solidFill>
          <a:ln w="127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56248" y="4215383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12932"/>
                </a:solidFill>
                <a:latin typeface="Calibri Light"/>
              </a:rPr>
              <a:t>—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357616" y="4142231"/>
            <a:ext cx="1691640" cy="512064"/>
          </a:xfrm>
          <a:prstGeom prst="rect">
            <a:avLst/>
          </a:prstGeom>
          <a:solidFill>
            <a:srgbClr val="161B22"/>
          </a:solidFill>
          <a:ln w="127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57616" y="4215383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12932"/>
                </a:solidFill>
                <a:latin typeface="Calibri Light"/>
              </a:rPr>
              <a:t>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158984" y="4142231"/>
            <a:ext cx="1691640" cy="512064"/>
          </a:xfrm>
          <a:prstGeom prst="rect">
            <a:avLst/>
          </a:prstGeom>
          <a:solidFill>
            <a:srgbClr val="161B22"/>
          </a:solidFill>
          <a:ln w="127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158984" y="4215383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12932"/>
                </a:solidFill>
                <a:latin typeface="Calibri Light"/>
              </a:rPr>
              <a:t>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4709159"/>
            <a:ext cx="4206240" cy="512064"/>
          </a:xfrm>
          <a:prstGeom prst="rect">
            <a:avLst/>
          </a:prstGeom>
          <a:solidFill>
            <a:srgbClr val="1C242E"/>
          </a:solidFill>
          <a:ln w="1270">
            <a:solidFill>
              <a:srgbClr val="1C2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2920" y="4800599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alibri"/>
              </a:rPr>
              <a:t>Real-time indexing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754880" y="4709159"/>
            <a:ext cx="1691640" cy="512064"/>
          </a:xfrm>
          <a:prstGeom prst="rect">
            <a:avLst/>
          </a:prstGeom>
          <a:solidFill>
            <a:srgbClr val="1C242E"/>
          </a:solidFill>
          <a:ln w="1270">
            <a:solidFill>
              <a:srgbClr val="1C2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754880" y="4782311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FB950"/>
                </a:solidFill>
                <a:latin typeface="Calibri Light"/>
              </a:rPr>
              <a:t>✓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56248" y="4709159"/>
            <a:ext cx="1691640" cy="512064"/>
          </a:xfrm>
          <a:prstGeom prst="rect">
            <a:avLst/>
          </a:prstGeom>
          <a:solidFill>
            <a:srgbClr val="1C242E"/>
          </a:solidFill>
          <a:ln w="1270">
            <a:solidFill>
              <a:srgbClr val="1C2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556248" y="4782311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FB950"/>
                </a:solidFill>
                <a:latin typeface="Calibri Light"/>
              </a:rPr>
              <a:t>✓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357616" y="4709159"/>
            <a:ext cx="1691640" cy="512064"/>
          </a:xfrm>
          <a:prstGeom prst="rect">
            <a:avLst/>
          </a:prstGeom>
          <a:solidFill>
            <a:srgbClr val="1C242E"/>
          </a:solidFill>
          <a:ln w="1270">
            <a:solidFill>
              <a:srgbClr val="1C2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357616" y="4782311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12932"/>
                </a:solidFill>
                <a:latin typeface="Calibri Light"/>
              </a:rPr>
              <a:t>—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158984" y="4709159"/>
            <a:ext cx="1691640" cy="512064"/>
          </a:xfrm>
          <a:prstGeom prst="rect">
            <a:avLst/>
          </a:prstGeom>
          <a:solidFill>
            <a:srgbClr val="1C242E"/>
          </a:solidFill>
          <a:ln w="1270">
            <a:solidFill>
              <a:srgbClr val="1C2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158984" y="4782311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12932"/>
                </a:solidFill>
                <a:latin typeface="Calibri Light"/>
              </a:rPr>
              <a:t>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65760" y="5276087"/>
            <a:ext cx="4206240" cy="512064"/>
          </a:xfrm>
          <a:prstGeom prst="rect">
            <a:avLst/>
          </a:prstGeom>
          <a:solidFill>
            <a:srgbClr val="161B22"/>
          </a:solidFill>
          <a:ln w="127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02920" y="5367527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alibri"/>
              </a:rPr>
              <a:t>Multi-wallet + Google OAuth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754880" y="5276087"/>
            <a:ext cx="1691640" cy="512064"/>
          </a:xfrm>
          <a:prstGeom prst="rect">
            <a:avLst/>
          </a:prstGeom>
          <a:solidFill>
            <a:srgbClr val="161B22"/>
          </a:solidFill>
          <a:ln w="127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754880" y="5349239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FB950"/>
                </a:solidFill>
                <a:latin typeface="Calibri Light"/>
              </a:rPr>
              <a:t>✓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556248" y="5276087"/>
            <a:ext cx="1691640" cy="512064"/>
          </a:xfrm>
          <a:prstGeom prst="rect">
            <a:avLst/>
          </a:prstGeom>
          <a:solidFill>
            <a:srgbClr val="161B22"/>
          </a:solidFill>
          <a:ln w="127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556248" y="5349239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12932"/>
                </a:solidFill>
                <a:latin typeface="Calibri Light"/>
              </a:rPr>
              <a:t>—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357616" y="5276087"/>
            <a:ext cx="1691640" cy="512064"/>
          </a:xfrm>
          <a:prstGeom prst="rect">
            <a:avLst/>
          </a:prstGeom>
          <a:solidFill>
            <a:srgbClr val="161B22"/>
          </a:solidFill>
          <a:ln w="127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357616" y="5349239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12932"/>
                </a:solidFill>
                <a:latin typeface="Calibri Light"/>
              </a:rPr>
              <a:t>—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158984" y="5276087"/>
            <a:ext cx="1691640" cy="512064"/>
          </a:xfrm>
          <a:prstGeom prst="rect">
            <a:avLst/>
          </a:prstGeom>
          <a:solidFill>
            <a:srgbClr val="161B22"/>
          </a:solidFill>
          <a:ln w="127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158984" y="5349239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12932"/>
                </a:solidFill>
                <a:latin typeface="Calibri Light"/>
              </a:rPr>
              <a:t>—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65760" y="5843015"/>
            <a:ext cx="4206240" cy="512064"/>
          </a:xfrm>
          <a:prstGeom prst="rect">
            <a:avLst/>
          </a:prstGeom>
          <a:solidFill>
            <a:srgbClr val="1C242E"/>
          </a:solidFill>
          <a:ln w="1270">
            <a:solidFill>
              <a:srgbClr val="1C2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02920" y="5934455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alibri"/>
              </a:rPr>
              <a:t>Open source contract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754880" y="5843015"/>
            <a:ext cx="1691640" cy="512064"/>
          </a:xfrm>
          <a:prstGeom prst="rect">
            <a:avLst/>
          </a:prstGeom>
          <a:solidFill>
            <a:srgbClr val="1C242E"/>
          </a:solidFill>
          <a:ln w="1270">
            <a:solidFill>
              <a:srgbClr val="1C2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754880" y="5916167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FB950"/>
                </a:solidFill>
                <a:latin typeface="Calibri Light"/>
              </a:rPr>
              <a:t>✓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556248" y="5843015"/>
            <a:ext cx="1691640" cy="512064"/>
          </a:xfrm>
          <a:prstGeom prst="rect">
            <a:avLst/>
          </a:prstGeom>
          <a:solidFill>
            <a:srgbClr val="1C242E"/>
          </a:solidFill>
          <a:ln w="1270">
            <a:solidFill>
              <a:srgbClr val="1C2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556248" y="5916167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12932"/>
                </a:solidFill>
                <a:latin typeface="Calibri Light"/>
              </a:rPr>
              <a:t>—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357616" y="5843015"/>
            <a:ext cx="1691640" cy="512064"/>
          </a:xfrm>
          <a:prstGeom prst="rect">
            <a:avLst/>
          </a:prstGeom>
          <a:solidFill>
            <a:srgbClr val="1C242E"/>
          </a:solidFill>
          <a:ln w="1270">
            <a:solidFill>
              <a:srgbClr val="1C2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357616" y="5916167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FB950"/>
                </a:solidFill>
                <a:latin typeface="Calibri Light"/>
              </a:rPr>
              <a:t>✓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158984" y="5843015"/>
            <a:ext cx="1691640" cy="512064"/>
          </a:xfrm>
          <a:prstGeom prst="rect">
            <a:avLst/>
          </a:prstGeom>
          <a:solidFill>
            <a:srgbClr val="1C242E"/>
          </a:solidFill>
          <a:ln w="1270">
            <a:solidFill>
              <a:srgbClr val="1C2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158984" y="5916167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12932"/>
                </a:solidFill>
                <a:latin typeface="Calibri Light"/>
              </a:rPr>
              <a:t>—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65760" y="6409943"/>
            <a:ext cx="4206240" cy="512064"/>
          </a:xfrm>
          <a:prstGeom prst="rect">
            <a:avLst/>
          </a:prstGeom>
          <a:solidFill>
            <a:srgbClr val="161B22"/>
          </a:solidFill>
          <a:ln w="127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02920" y="6501383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alibri"/>
              </a:rPr>
              <a:t>Scalable to gRPC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754880" y="6409943"/>
            <a:ext cx="1691640" cy="512064"/>
          </a:xfrm>
          <a:prstGeom prst="rect">
            <a:avLst/>
          </a:prstGeom>
          <a:solidFill>
            <a:srgbClr val="161B22"/>
          </a:solidFill>
          <a:ln w="127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754880" y="6483095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FB950"/>
                </a:solidFill>
                <a:latin typeface="Calibri Light"/>
              </a:rPr>
              <a:t>✓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556248" y="6409943"/>
            <a:ext cx="1691640" cy="512064"/>
          </a:xfrm>
          <a:prstGeom prst="rect">
            <a:avLst/>
          </a:prstGeom>
          <a:solidFill>
            <a:srgbClr val="161B22"/>
          </a:solidFill>
          <a:ln w="127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556248" y="6483095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12932"/>
                </a:solidFill>
                <a:latin typeface="Calibri Light"/>
              </a:rPr>
              <a:t>—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357616" y="6409943"/>
            <a:ext cx="1691640" cy="512064"/>
          </a:xfrm>
          <a:prstGeom prst="rect">
            <a:avLst/>
          </a:prstGeom>
          <a:solidFill>
            <a:srgbClr val="161B22"/>
          </a:solidFill>
          <a:ln w="127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357616" y="6483095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12932"/>
                </a:solidFill>
                <a:latin typeface="Calibri Light"/>
              </a:rPr>
              <a:t>—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158984" y="6409943"/>
            <a:ext cx="1691640" cy="512064"/>
          </a:xfrm>
          <a:prstGeom prst="rect">
            <a:avLst/>
          </a:prstGeom>
          <a:solidFill>
            <a:srgbClr val="161B22"/>
          </a:solidFill>
          <a:ln w="127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158984" y="6483095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12932"/>
                </a:solidFill>
                <a:latin typeface="Calibri Light"/>
              </a:rPr>
              <a:t>—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65760" y="6400800"/>
            <a:ext cx="11430000" cy="347472"/>
          </a:xfrm>
          <a:prstGeom prst="rect">
            <a:avLst/>
          </a:prstGeom>
          <a:solidFill>
            <a:srgbClr val="58A6FF"/>
          </a:solidFill>
          <a:ln w="127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02920" y="6437376"/>
            <a:ext cx="11155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  <a:latin typeface="Calibri"/>
              </a:rPr>
              <a:t>Network effects compound: every graduated token increases platform credibility and creator FOMO.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 w="1270"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37744"/>
          </a:xfrm>
          <a:prstGeom prst="rect">
            <a:avLst/>
          </a:prstGeom>
          <a:solidFill>
            <a:srgbClr val="0D1117"/>
          </a:solidFill>
          <a:ln w="1270"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2188952" cy="237744"/>
          </a:xfrm>
          <a:prstGeom prst="rect">
            <a:avLst/>
          </a:prstGeom>
          <a:solidFill>
            <a:srgbClr val="0D1117"/>
          </a:solidFill>
          <a:ln w="1270"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57200"/>
            <a:ext cx="12188952" cy="237744"/>
          </a:xfrm>
          <a:prstGeom prst="rect">
            <a:avLst/>
          </a:prstGeom>
          <a:solidFill>
            <a:srgbClr val="0E1118"/>
          </a:solidFill>
          <a:ln w="1270">
            <a:solidFill>
              <a:srgbClr val="0E11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5800"/>
            <a:ext cx="12188952" cy="237744"/>
          </a:xfrm>
          <a:prstGeom prst="rect">
            <a:avLst/>
          </a:prstGeom>
          <a:solidFill>
            <a:srgbClr val="0E1119"/>
          </a:solidFill>
          <a:ln w="1270">
            <a:solidFill>
              <a:srgbClr val="0E1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12188952" cy="237744"/>
          </a:xfrm>
          <a:prstGeom prst="rect">
            <a:avLst/>
          </a:prstGeom>
          <a:solidFill>
            <a:srgbClr val="0F111A"/>
          </a:solidFill>
          <a:ln w="1270">
            <a:solidFill>
              <a:srgbClr val="0F11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143000"/>
            <a:ext cx="12188952" cy="237744"/>
          </a:xfrm>
          <a:prstGeom prst="rect">
            <a:avLst/>
          </a:prstGeom>
          <a:solidFill>
            <a:srgbClr val="0F111A"/>
          </a:solidFill>
          <a:ln w="1270">
            <a:solidFill>
              <a:srgbClr val="0F11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371600"/>
            <a:ext cx="12188952" cy="237744"/>
          </a:xfrm>
          <a:prstGeom prst="rect">
            <a:avLst/>
          </a:prstGeom>
          <a:solidFill>
            <a:srgbClr val="10111B"/>
          </a:solidFill>
          <a:ln w="1270">
            <a:solidFill>
              <a:srgbClr val="1011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600200"/>
            <a:ext cx="12188952" cy="237744"/>
          </a:xfrm>
          <a:prstGeom prst="rect">
            <a:avLst/>
          </a:prstGeom>
          <a:solidFill>
            <a:srgbClr val="10111C"/>
          </a:solidFill>
          <a:ln w="1270">
            <a:solidFill>
              <a:srgbClr val="1011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828800"/>
            <a:ext cx="12188952" cy="237744"/>
          </a:xfrm>
          <a:prstGeom prst="rect">
            <a:avLst/>
          </a:prstGeom>
          <a:solidFill>
            <a:srgbClr val="11111D"/>
          </a:solidFill>
          <a:ln w="1270">
            <a:solidFill>
              <a:srgbClr val="1111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057400"/>
            <a:ext cx="12188952" cy="237744"/>
          </a:xfrm>
          <a:prstGeom prst="rect">
            <a:avLst/>
          </a:prstGeom>
          <a:solidFill>
            <a:srgbClr val="11111D"/>
          </a:solidFill>
          <a:ln w="1270">
            <a:solidFill>
              <a:srgbClr val="1111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286000"/>
            <a:ext cx="12188952" cy="237744"/>
          </a:xfrm>
          <a:prstGeom prst="rect">
            <a:avLst/>
          </a:prstGeom>
          <a:solidFill>
            <a:srgbClr val="12111E"/>
          </a:solidFill>
          <a:ln w="1270">
            <a:solidFill>
              <a:srgbClr val="1211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514600"/>
            <a:ext cx="12188952" cy="237744"/>
          </a:xfrm>
          <a:prstGeom prst="rect">
            <a:avLst/>
          </a:prstGeom>
          <a:solidFill>
            <a:srgbClr val="12111F"/>
          </a:solidFill>
          <a:ln w="1270">
            <a:solidFill>
              <a:srgbClr val="1211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743200"/>
            <a:ext cx="12188952" cy="237744"/>
          </a:xfrm>
          <a:prstGeom prst="rect">
            <a:avLst/>
          </a:prstGeom>
          <a:solidFill>
            <a:srgbClr val="131120"/>
          </a:solidFill>
          <a:ln w="1270">
            <a:solidFill>
              <a:srgbClr val="13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2971800"/>
            <a:ext cx="12188952" cy="237744"/>
          </a:xfrm>
          <a:prstGeom prst="rect">
            <a:avLst/>
          </a:prstGeom>
          <a:solidFill>
            <a:srgbClr val="131120"/>
          </a:solidFill>
          <a:ln w="1270">
            <a:solidFill>
              <a:srgbClr val="13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200400"/>
            <a:ext cx="12188952" cy="237744"/>
          </a:xfrm>
          <a:prstGeom prst="rect">
            <a:avLst/>
          </a:prstGeom>
          <a:solidFill>
            <a:srgbClr val="141121"/>
          </a:solidFill>
          <a:ln w="1270">
            <a:solidFill>
              <a:srgbClr val="141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429000"/>
            <a:ext cx="12188952" cy="237744"/>
          </a:xfrm>
          <a:prstGeom prst="rect">
            <a:avLst/>
          </a:prstGeom>
          <a:solidFill>
            <a:srgbClr val="141122"/>
          </a:solidFill>
          <a:ln w="1270">
            <a:solidFill>
              <a:srgbClr val="1411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657600"/>
            <a:ext cx="12188952" cy="237744"/>
          </a:xfrm>
          <a:prstGeom prst="rect">
            <a:avLst/>
          </a:prstGeom>
          <a:solidFill>
            <a:srgbClr val="151123"/>
          </a:solidFill>
          <a:ln w="1270">
            <a:solidFill>
              <a:srgbClr val="1511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886200"/>
            <a:ext cx="12188952" cy="237744"/>
          </a:xfrm>
          <a:prstGeom prst="rect">
            <a:avLst/>
          </a:prstGeom>
          <a:solidFill>
            <a:srgbClr val="151124"/>
          </a:solidFill>
          <a:ln w="1270">
            <a:solidFill>
              <a:srgbClr val="151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114800"/>
            <a:ext cx="12188952" cy="237744"/>
          </a:xfrm>
          <a:prstGeom prst="rect">
            <a:avLst/>
          </a:prstGeom>
          <a:solidFill>
            <a:srgbClr val="161124"/>
          </a:solidFill>
          <a:ln w="1270">
            <a:solidFill>
              <a:srgbClr val="161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343400"/>
            <a:ext cx="12188952" cy="237744"/>
          </a:xfrm>
          <a:prstGeom prst="rect">
            <a:avLst/>
          </a:prstGeom>
          <a:solidFill>
            <a:srgbClr val="161125"/>
          </a:solidFill>
          <a:ln w="1270">
            <a:solidFill>
              <a:srgbClr val="1611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572000"/>
            <a:ext cx="12188952" cy="237744"/>
          </a:xfrm>
          <a:prstGeom prst="rect">
            <a:avLst/>
          </a:prstGeom>
          <a:solidFill>
            <a:srgbClr val="171126"/>
          </a:solidFill>
          <a:ln w="1270">
            <a:solidFill>
              <a:srgbClr val="171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4800600"/>
            <a:ext cx="12188952" cy="237744"/>
          </a:xfrm>
          <a:prstGeom prst="rect">
            <a:avLst/>
          </a:prstGeom>
          <a:solidFill>
            <a:srgbClr val="171127"/>
          </a:solidFill>
          <a:ln w="1270">
            <a:solidFill>
              <a:srgbClr val="1711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029200"/>
            <a:ext cx="12188952" cy="237744"/>
          </a:xfrm>
          <a:prstGeom prst="rect">
            <a:avLst/>
          </a:prstGeom>
          <a:solidFill>
            <a:srgbClr val="181127"/>
          </a:solidFill>
          <a:ln w="1270">
            <a:solidFill>
              <a:srgbClr val="1811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257800"/>
            <a:ext cx="12188952" cy="237744"/>
          </a:xfrm>
          <a:prstGeom prst="rect">
            <a:avLst/>
          </a:prstGeom>
          <a:solidFill>
            <a:srgbClr val="181128"/>
          </a:solidFill>
          <a:ln w="1270">
            <a:solidFill>
              <a:srgbClr val="18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486400"/>
            <a:ext cx="12188952" cy="237744"/>
          </a:xfrm>
          <a:prstGeom prst="rect">
            <a:avLst/>
          </a:prstGeom>
          <a:solidFill>
            <a:srgbClr val="191129"/>
          </a:solidFill>
          <a:ln w="1270">
            <a:solidFill>
              <a:srgbClr val="1911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715000"/>
            <a:ext cx="12188952" cy="237744"/>
          </a:xfrm>
          <a:prstGeom prst="rect">
            <a:avLst/>
          </a:prstGeom>
          <a:solidFill>
            <a:srgbClr val="19112A"/>
          </a:solidFill>
          <a:ln w="1270">
            <a:solidFill>
              <a:srgbClr val="1911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5943600"/>
            <a:ext cx="12188952" cy="237744"/>
          </a:xfrm>
          <a:prstGeom prst="rect">
            <a:avLst/>
          </a:prstGeom>
          <a:solidFill>
            <a:srgbClr val="1A112A"/>
          </a:solidFill>
          <a:ln w="1270">
            <a:solidFill>
              <a:srgbClr val="1A11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172200"/>
            <a:ext cx="12188952" cy="237744"/>
          </a:xfrm>
          <a:prstGeom prst="rect">
            <a:avLst/>
          </a:prstGeom>
          <a:solidFill>
            <a:srgbClr val="1A112B"/>
          </a:solidFill>
          <a:ln w="1270">
            <a:solidFill>
              <a:srgbClr val="1A1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400800"/>
            <a:ext cx="12188952" cy="237744"/>
          </a:xfrm>
          <a:prstGeom prst="rect">
            <a:avLst/>
          </a:prstGeom>
          <a:solidFill>
            <a:srgbClr val="1B112C"/>
          </a:solidFill>
          <a:ln w="1270">
            <a:solidFill>
              <a:srgbClr val="1B1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6629400"/>
            <a:ext cx="12188952" cy="237744"/>
          </a:xfrm>
          <a:prstGeom prst="rect">
            <a:avLst/>
          </a:prstGeom>
          <a:solidFill>
            <a:srgbClr val="1B112D"/>
          </a:solidFill>
          <a:ln w="1270">
            <a:solidFill>
              <a:srgbClr val="1B1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BC8CFF"/>
          </a:solidFill>
          <a:ln w="127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445752" y="0"/>
            <a:ext cx="2743200" cy="64008"/>
          </a:xfrm>
          <a:prstGeom prst="rect">
            <a:avLst/>
          </a:prstGeom>
          <a:solidFill>
            <a:srgbClr val="58A6FF"/>
          </a:solidFill>
          <a:ln w="127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2606040"/>
            <a:ext cx="5486400" cy="45720"/>
          </a:xfrm>
          <a:prstGeom prst="rect">
            <a:avLst/>
          </a:prstGeom>
          <a:solidFill>
            <a:srgbClr val="BC8CFF"/>
          </a:solidFill>
          <a:ln w="127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58A6FF"/>
          </a:solidFill>
          <a:ln w="127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445752" y="0"/>
            <a:ext cx="2743200" cy="54864"/>
          </a:xfrm>
          <a:prstGeom prst="rect">
            <a:avLst/>
          </a:prstGeom>
          <a:solidFill>
            <a:srgbClr val="BC8CFF"/>
          </a:solidFill>
          <a:ln w="127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64592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B949E"/>
                </a:solidFill>
                <a:latin typeface="Calibri"/>
              </a:rPr>
              <a:t>10 — VISION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 Light"/>
              </a:rPr>
              <a:t>The future of permissionless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1691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58A6FF"/>
                </a:solidFill>
                <a:latin typeface="Calibri Light"/>
              </a:rPr>
              <a:t>finance is being built now.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27889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BC8CFF"/>
                </a:solidFill>
                <a:latin typeface="Calibri Light"/>
              </a:rPr>
              <a:t>On Aptos. With Move. With MoveMint.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3520440"/>
            <a:ext cx="7132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B949E"/>
                </a:solidFill>
                <a:latin typeface="Calibri"/>
              </a:rPr>
              <a:t>Our 18-month vision: become the canonical token launch infrastructure
for Aptos — expanding to cross-chain graduation, creator DAOs,
launchpad curation, and protocol-owned liquidity.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5029200"/>
            <a:ext cx="3566160" cy="1554480"/>
          </a:xfrm>
          <a:prstGeom prst="rect">
            <a:avLst/>
          </a:prstGeom>
          <a:solidFill>
            <a:srgbClr val="161B22"/>
          </a:solidFill>
          <a:ln w="127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2920" y="5029200"/>
            <a:ext cx="3566160" cy="54864"/>
          </a:xfrm>
          <a:prstGeom prst="rect">
            <a:avLst/>
          </a:prstGeom>
          <a:solidFill>
            <a:srgbClr val="58A6FF"/>
          </a:solidFill>
          <a:ln w="127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4088" y="516636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58A6FF"/>
                </a:solidFill>
                <a:latin typeface="Calibri Light"/>
              </a:rPr>
              <a:t>10,000+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4088" y="57607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  <a:latin typeface="Calibri"/>
              </a:rPr>
              <a:t>tokens launched
by end of Year 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51959" y="5029200"/>
            <a:ext cx="3566160" cy="1554480"/>
          </a:xfrm>
          <a:prstGeom prst="rect">
            <a:avLst/>
          </a:prstGeom>
          <a:solidFill>
            <a:srgbClr val="161B22"/>
          </a:solidFill>
          <a:ln w="127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251959" y="5029200"/>
            <a:ext cx="3566160" cy="54864"/>
          </a:xfrm>
          <a:prstGeom prst="rect">
            <a:avLst/>
          </a:prstGeom>
          <a:solidFill>
            <a:srgbClr val="BC8CFF"/>
          </a:solidFill>
          <a:ln w="127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53127" y="516636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BC8CFF"/>
                </a:solidFill>
                <a:latin typeface="Calibri Light"/>
              </a:rPr>
              <a:t>$50M+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53127" y="57607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  <a:latin typeface="Calibri"/>
              </a:rPr>
              <a:t>total volume
through bonding curves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00998" y="5029200"/>
            <a:ext cx="3566160" cy="1554480"/>
          </a:xfrm>
          <a:prstGeom prst="rect">
            <a:avLst/>
          </a:prstGeom>
          <a:solidFill>
            <a:srgbClr val="161B22"/>
          </a:solidFill>
          <a:ln w="127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000998" y="5029200"/>
            <a:ext cx="3566160" cy="54864"/>
          </a:xfrm>
          <a:prstGeom prst="rect">
            <a:avLst/>
          </a:prstGeom>
          <a:solidFill>
            <a:srgbClr val="3FB950"/>
          </a:solidFill>
          <a:ln w="127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02166" y="516636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FB950"/>
                </a:solidFill>
                <a:latin typeface="Calibri Light"/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02166" y="57607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  <a:latin typeface="Calibri"/>
              </a:rPr>
              <a:t>additional Aptos
DEXs integrated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6492240"/>
            <a:ext cx="7772400" cy="292608"/>
          </a:xfrm>
          <a:prstGeom prst="rect">
            <a:avLst/>
          </a:prstGeom>
          <a:solidFill>
            <a:srgbClr val="1C242E"/>
          </a:solidFill>
          <a:ln w="1270">
            <a:solidFill>
              <a:srgbClr val="1C2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8368" y="6528816"/>
            <a:ext cx="74980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ourier New"/>
              </a:rPr>
              <a:t>github.com/gking432/my-token-launcher-standard  ·  Ready for mainnet deployment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0" y="598932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000" b="1" i="0">
                <a:solidFill>
                  <a:srgbClr val="BC8CFF"/>
                </a:solidFill>
                <a:latin typeface="Calibri Light"/>
              </a:rPr>
              <a:t>MOVEMINT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86800" y="6537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B949E"/>
                </a:solidFill>
                <a:latin typeface="Calibri"/>
              </a:rPr>
              <a:t>Aptos · Move · Open Source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